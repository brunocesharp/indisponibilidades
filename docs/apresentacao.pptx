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Sistema de Monitoramento de Indisponibilidade — especificação funcional. Público técnico (arquitetura). Objetivo da reunião: alinhar escopo e destravar as hipóteses pendentes.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que o projeto existe. Hoje não há como comprovar que um sistema esteve fora do ar. A minuta do Tribunal exige que essa informação seja disponibilizada ao cidadão, com prazo atrelado ao Portal de Serviços. A resposta é um sistema centralizado que monitora, registra e emite relatórios autenticados.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perfis distintos, dois portais, dois métodos de login. Administrador (interno, AD) gerencia o que é monitorado e consome relatórios operacionais. Cidadão (gov.br) apenas consulta e usa o relatório como comprovação, validando pelo QR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Divisor. Núcleo funcional do sistema. Sete features especificadas, cobertas por 62 cenários BDD e 63 regras de negócio — a especificação está madura.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das sete funcionalidades e seu peso relativo (cenários · regras). Gerenciamento e Monitoramento são o núcleo. As próximas telas detalham cada uma.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Ciclo de vida de um serviço monitorado: inclusão, edição, inativação, reativação e remoção. Ponto-chave: o cadastro do sistema não é nossa responsabilidade — o inventário vem do Portal via endpoint externo. Histórico é sempre preservado, mesmo na remoção.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Coração técnico: o debounce buffer evita falsos positivos. 1ª falha só cria registro em memória; a 2ª confirma e persiste o início no Oracle; a recuperação fecha o período. Verificação a cada 1 min. Restart zera o buffer sem recuperar estado — decisão consciente.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Hierarquia serve só para o relatório, não para a detecção — cada serviço é monitorado de forma independente. Cidadão vê apenas o sistema que acessou; administrador vê toda a árvore de relacionados no dia. Sem limite de níveis e múltiplos pais permitidos.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relatórios, formato único e autenticável. Por Limiar: público, só sistemas com 120+ min acumulados, com QR Code para validação. Diário do Admin: interno, sem filtro de limiar, com hierarquia, sem QR Code. Ambos assinados digitalmente pelo Diretor DTI.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se acessa e valida. Consulta por data a partir do d-1, qualquer data histórica. Download em PDF idêntico ao oficial (parcial do dia em laranja). Autenticação: código verificador (por relatório) + código do usuário reconstroem o relatório original.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Divisor. Fronteiras do sistema: dependências externas já confirmadas e os padrões de healthcheck aprovados pela Arquitetura.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integrações. Quatro dependências (Portal, SSO, SIGESP/AD, e-mail) e dois padrões técnicos aprovados (.NET HealthChecks, Spring Boot Actuator). Destaque: a claim listaGruposSistema identifica o administrador via 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slide mais importante para esta reunião. Três bloqueios antes de iniciar o desenvolvimento: U4 e N1 dependem do Tribunal/Jurídico (validade do formato e conformidade com a minuta); T4 é um spike técnico nosso comparando .NET × Java. Precisamos de responsável e prazo para cada 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Estado do projeto em quatro estágios. Discovery e especificação concluídos; em andamento a validação de U4/N1 e o spike T4; a iniciar a modelagem de dados e o plano técnico; depois o desenvolvimento incremental. Prazo alinhado ao lançamento do Portal de Serviços.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 e abertura para dúvidas e discussões. Retomar as três pendências e combinar responsáveis e prazos.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image" Target="../media/image-3-15.png"/><Relationship Id="rId16" Type="http://schemas.openxmlformats.org/officeDocument/2006/relationships/image" Target="../media/image-3-16.svg"/><Relationship Id="rId17" Type="http://schemas.openxmlformats.org/officeDocument/2006/relationships/image" Target="../media/image-3-17.png"/><Relationship Id="rId18" Type="http://schemas.openxmlformats.org/officeDocument/2006/relationships/image" Target="../media/image-3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3.png"/><Relationship Id="rId14" Type="http://schemas.openxmlformats.org/officeDocument/2006/relationships/image" Target="../media/image-9-14.svg"/><Relationship Id="rId15" Type="http://schemas.openxmlformats.org/officeDocument/2006/relationships/image" Target="../media/image-9-15.png"/><Relationship Id="rId16" Type="http://schemas.openxmlformats.org/officeDocument/2006/relationships/image" Target="../media/image-9-16.svg"/><Relationship Id="rId17" Type="http://schemas.openxmlformats.org/officeDocument/2006/relationships/image" Target="../media/image-9-17.png"/><Relationship Id="rId18" Type="http://schemas.openxmlformats.org/officeDocument/2006/relationships/image" Target="../media/image-9-18.svg"/><Relationship Id="rId19" Type="http://schemas.openxmlformats.org/officeDocument/2006/relationships/image" Target="../media/image-9-19.png"/><Relationship Id="rId20" Type="http://schemas.openxmlformats.org/officeDocument/2006/relationships/image" Target="../media/image-9-20.svg"/><Relationship Id="rId21" Type="http://schemas.openxmlformats.org/officeDocument/2006/relationships/image" Target="../media/image-9-21.png"/><Relationship Id="rId22" Type="http://schemas.openxmlformats.org/officeDocument/2006/relationships/image" Target="../media/image-9-22.svg"/><Relationship Id="rId23" Type="http://schemas.openxmlformats.org/officeDocument/2006/relationships/image" Target="../media/image-9-23.png"/><Relationship Id="rId24" Type="http://schemas.openxmlformats.org/officeDocument/2006/relationships/image" Target="../media/image-9-24.sv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9.png"/><Relationship Id="rId10" Type="http://schemas.openxmlformats.org/officeDocument/2006/relationships/image" Target="../media/image-14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gradFill rotWithShape="1">
            <a:gsLst>
              <a:gs pos="0">
                <a:srgbClr val="1D5286">
                  <a:alpha val="100000"/>
                </a:srgbClr>
              </a:gs>
              <a:gs pos="100000">
                <a:srgbClr val="4E86BF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14478000" y="-1143000"/>
            <a:ext cx="4953000" cy="4953000"/>
          </a:xfrm>
          <a:prstGeom prst="ellipse">
            <a:avLst/>
          </a:prstGeom>
          <a:ln w="9525">
            <a:solidFill>
              <a:srgbClr val="78A0C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430500" y="571500"/>
            <a:ext cx="3238500" cy="3238500"/>
          </a:xfrm>
          <a:prstGeom prst="ellipse">
            <a:avLst/>
          </a:prstGeom>
          <a:ln w="9525">
            <a:solidFill>
              <a:srgbClr val="78A0C8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7750" y="914400"/>
            <a:ext cx="533400" cy="533400"/>
          </a:xfrm>
          <a:prstGeom prst="roundRect">
            <a:avLst>
              <a:gd name="adj" fmla="val 14286"/>
            </a:avLst>
          </a:prstGeom>
          <a:ln w="9525">
            <a:solidFill>
              <a:srgbClr val="A0BEDC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9175" y="923925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spc="75" kern="0" dirty="0">
                <a:solidFill>
                  <a:srgbClr val="9FB4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752600" y="966788"/>
            <a:ext cx="518007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1125" spc="225" kern="0" dirty="0">
                <a:solidFill>
                  <a:srgbClr val="9FB4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TRIBUNAL DE CONTAS DO ESTADO DE MINAS GERAIS DIRETORIA DE TECNOLOGIA E INFORMAÇÃO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1047750" y="3716387"/>
            <a:ext cx="178117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75" kern="0" dirty="0">
                <a:solidFill>
                  <a:srgbClr val="4E8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ESPECIFICAÇÃO FUNCIONAL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47750" y="4154537"/>
            <a:ext cx="12753975" cy="18255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371"/>
              </a:lnSpc>
              <a:buNone/>
            </a:pPr>
            <a:r>
              <a:rPr lang="en-US" sz="6900" b="1" spc="-17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Monitoramento de Indisponibilidade</a:t>
            </a:r>
            <a:endParaRPr lang="en-US" sz="6900" dirty="0"/>
          </a:p>
        </p:txBody>
      </p:sp>
      <p:sp>
        <p:nvSpPr>
          <p:cNvPr id="10" name="Text 8"/>
          <p:cNvSpPr/>
          <p:nvPr/>
        </p:nvSpPr>
        <p:spPr>
          <a:xfrm>
            <a:off x="1047750" y="6227713"/>
            <a:ext cx="882967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B9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contínuo, registro auditável de indisponibilidades e relatórios autenticados para uso em conformidade e petições processuais.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1047750" y="9163050"/>
            <a:ext cx="166183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50" kern="0" dirty="0">
                <a:solidFill>
                  <a:srgbClr val="8FA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JULHO DE 2026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13870186" y="9163050"/>
            <a:ext cx="370707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50" kern="0" dirty="0">
                <a:solidFill>
                  <a:srgbClr val="8FA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APRESENTAÇÃO DA ESPECIFICAÇÃO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18021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1D52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CONTEXTO E MOTIVAÇÃO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52500" y="1085850"/>
            <a:ext cx="18021300" cy="553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133"/>
              </a:lnSpc>
              <a:buNone/>
            </a:pPr>
            <a:r>
              <a:rPr lang="en-US" sz="3900" b="1" spc="-78" kern="0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este sistema existe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52500" y="1867644"/>
            <a:ext cx="16383000" cy="9525"/>
          </a:xfrm>
          <a:prstGeom prst="rect">
            <a:avLst/>
          </a:prstGeom>
          <a:solidFill>
            <a:srgbClr val="DDE4EC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1858119"/>
            <a:ext cx="609600" cy="28575"/>
          </a:xfrm>
          <a:prstGeom prst="rect">
            <a:avLst/>
          </a:prstGeom>
          <a:solidFill>
            <a:srgbClr val="1D5286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2296269"/>
            <a:ext cx="5257800" cy="7190631"/>
          </a:xfrm>
          <a:prstGeom prst="roundRect">
            <a:avLst>
              <a:gd name="adj" fmla="val 2536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52500" y="9477375"/>
            <a:ext cx="5257800" cy="9525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8" name="Shape 6"/>
          <p:cNvSpPr/>
          <p:nvPr/>
        </p:nvSpPr>
        <p:spPr>
          <a:xfrm>
            <a:off x="952500" y="2296269"/>
            <a:ext cx="5257800" cy="38100"/>
          </a:xfrm>
          <a:prstGeom prst="rect">
            <a:avLst/>
          </a:prstGeom>
          <a:solidFill>
            <a:srgbClr val="B76F27"/>
          </a:solidFill>
          <a:ln/>
        </p:spPr>
      </p:sp>
      <p:sp>
        <p:nvSpPr>
          <p:cNvPr id="9" name="Shape 7"/>
          <p:cNvSpPr/>
          <p:nvPr/>
        </p:nvSpPr>
        <p:spPr>
          <a:xfrm>
            <a:off x="952500" y="2296269"/>
            <a:ext cx="9525" cy="7190631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10" name="Shape 8"/>
          <p:cNvSpPr/>
          <p:nvPr/>
        </p:nvSpPr>
        <p:spPr>
          <a:xfrm>
            <a:off x="6200775" y="2296269"/>
            <a:ext cx="9525" cy="7190631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11" name="Shape 9"/>
          <p:cNvSpPr/>
          <p:nvPr/>
        </p:nvSpPr>
        <p:spPr>
          <a:xfrm>
            <a:off x="1304925" y="2715369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F6EEE1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28750" y="2839194"/>
            <a:ext cx="285750" cy="2857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04925" y="3496419"/>
            <a:ext cx="500824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50" kern="0" dirty="0">
                <a:solidFill>
                  <a:srgbClr val="B76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PROBLEMA</a:t>
            </a:r>
            <a:endParaRPr lang="en-US" sz="1125" dirty="0"/>
          </a:p>
        </p:txBody>
      </p:sp>
      <p:sp>
        <p:nvSpPr>
          <p:cNvPr id="14" name="Text 11"/>
          <p:cNvSpPr/>
          <p:nvPr/>
        </p:nvSpPr>
        <p:spPr>
          <a:xfrm>
            <a:off x="1304925" y="3772644"/>
            <a:ext cx="50082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spc="-20" kern="0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Indisponibilidade sem rastro</a:t>
            </a:r>
            <a:endParaRPr lang="en-US" sz="2025" dirty="0"/>
          </a:p>
        </p:txBody>
      </p:sp>
      <p:sp>
        <p:nvSpPr>
          <p:cNvPr id="15" name="Text 12"/>
          <p:cNvSpPr/>
          <p:nvPr/>
        </p:nvSpPr>
        <p:spPr>
          <a:xfrm>
            <a:off x="1304925" y="4201269"/>
            <a:ext cx="4689539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dirty="0">
                <a:solidFill>
                  <a:srgbClr val="41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há forma de contabilizar ou comprovar que um sistema esteve fora do ar. As quedas ocorrem sem registro, notificação ou rastreabilidade.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6515100" y="2296269"/>
            <a:ext cx="5257800" cy="7190631"/>
          </a:xfrm>
          <a:prstGeom prst="roundRect">
            <a:avLst>
              <a:gd name="adj" fmla="val 2536"/>
            </a:avLst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6515100" y="9477375"/>
            <a:ext cx="5257800" cy="9525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18" name="Shape 15"/>
          <p:cNvSpPr/>
          <p:nvPr/>
        </p:nvSpPr>
        <p:spPr>
          <a:xfrm>
            <a:off x="6515100" y="2296269"/>
            <a:ext cx="5257800" cy="38100"/>
          </a:xfrm>
          <a:prstGeom prst="rect">
            <a:avLst/>
          </a:prstGeom>
          <a:solidFill>
            <a:srgbClr val="1D5286"/>
          </a:solidFill>
          <a:ln/>
        </p:spPr>
      </p:sp>
      <p:sp>
        <p:nvSpPr>
          <p:cNvPr id="19" name="Shape 16"/>
          <p:cNvSpPr/>
          <p:nvPr/>
        </p:nvSpPr>
        <p:spPr>
          <a:xfrm>
            <a:off x="6515100" y="2296269"/>
            <a:ext cx="9525" cy="7190631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20" name="Shape 17"/>
          <p:cNvSpPr/>
          <p:nvPr/>
        </p:nvSpPr>
        <p:spPr>
          <a:xfrm>
            <a:off x="11763375" y="2296269"/>
            <a:ext cx="9525" cy="7190631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21" name="Shape 18"/>
          <p:cNvSpPr/>
          <p:nvPr/>
        </p:nvSpPr>
        <p:spPr>
          <a:xfrm>
            <a:off x="6867525" y="2715369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E8EFF6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91350" y="2839194"/>
            <a:ext cx="285750" cy="28575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867525" y="3496419"/>
            <a:ext cx="500824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50" kern="0" dirty="0">
                <a:solidFill>
                  <a:srgbClr val="1D52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EXIGÊNCIA REGULATÓRIA</a:t>
            </a:r>
            <a:endParaRPr lang="en-US" sz="1125" dirty="0"/>
          </a:p>
        </p:txBody>
      </p:sp>
      <p:sp>
        <p:nvSpPr>
          <p:cNvPr id="24" name="Text 20"/>
          <p:cNvSpPr/>
          <p:nvPr/>
        </p:nvSpPr>
        <p:spPr>
          <a:xfrm>
            <a:off x="6867525" y="3772644"/>
            <a:ext cx="50082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spc="-20" kern="0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Determinação da minuta</a:t>
            </a:r>
            <a:endParaRPr lang="en-US" sz="2025" dirty="0"/>
          </a:p>
        </p:txBody>
      </p:sp>
      <p:sp>
        <p:nvSpPr>
          <p:cNvPr id="25" name="Text 21"/>
          <p:cNvSpPr/>
          <p:nvPr/>
        </p:nvSpPr>
        <p:spPr>
          <a:xfrm>
            <a:off x="6867525" y="4201269"/>
            <a:ext cx="4689539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dirty="0">
                <a:solidFill>
                  <a:srgbClr val="41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minuta do Tribunal exige que informações de indisponibilidade sejam disponibilizadas aos usuários — com prazo atrelado ao lançamento do Portal de Serviços.</a:t>
            </a:r>
            <a:endParaRPr lang="en-US" sz="1650" dirty="0"/>
          </a:p>
        </p:txBody>
      </p:sp>
      <p:sp>
        <p:nvSpPr>
          <p:cNvPr id="26" name="Shape 22"/>
          <p:cNvSpPr/>
          <p:nvPr/>
        </p:nvSpPr>
        <p:spPr>
          <a:xfrm>
            <a:off x="12077700" y="2296269"/>
            <a:ext cx="5257800" cy="7190631"/>
          </a:xfrm>
          <a:prstGeom prst="roundRect">
            <a:avLst>
              <a:gd name="adj" fmla="val 2536"/>
            </a:avLst>
          </a:prstGeom>
          <a:solidFill>
            <a:srgbClr val="0C2A45"/>
          </a:solidFill>
          <a:ln/>
        </p:spPr>
      </p:sp>
      <p:sp>
        <p:nvSpPr>
          <p:cNvPr id="27" name="Shape 23"/>
          <p:cNvSpPr/>
          <p:nvPr/>
        </p:nvSpPr>
        <p:spPr>
          <a:xfrm>
            <a:off x="12077700" y="9477375"/>
            <a:ext cx="5257800" cy="9525"/>
          </a:xfrm>
          <a:prstGeom prst="rect">
            <a:avLst/>
          </a:prstGeom>
          <a:solidFill>
            <a:srgbClr val="0C2A45"/>
          </a:solidFill>
          <a:ln/>
        </p:spPr>
      </p:sp>
      <p:sp>
        <p:nvSpPr>
          <p:cNvPr id="28" name="Shape 24"/>
          <p:cNvSpPr/>
          <p:nvPr/>
        </p:nvSpPr>
        <p:spPr>
          <a:xfrm>
            <a:off x="12077700" y="2296269"/>
            <a:ext cx="5257800" cy="38100"/>
          </a:xfrm>
          <a:prstGeom prst="rect">
            <a:avLst/>
          </a:prstGeom>
          <a:solidFill>
            <a:srgbClr val="4E86BF"/>
          </a:solidFill>
          <a:ln/>
        </p:spPr>
      </p:sp>
      <p:sp>
        <p:nvSpPr>
          <p:cNvPr id="29" name="Shape 25"/>
          <p:cNvSpPr/>
          <p:nvPr/>
        </p:nvSpPr>
        <p:spPr>
          <a:xfrm>
            <a:off x="12077700" y="2296269"/>
            <a:ext cx="9525" cy="7190631"/>
          </a:xfrm>
          <a:prstGeom prst="rect">
            <a:avLst/>
          </a:prstGeom>
          <a:solidFill>
            <a:srgbClr val="0C2A45"/>
          </a:solidFill>
          <a:ln/>
        </p:spPr>
      </p:sp>
      <p:sp>
        <p:nvSpPr>
          <p:cNvPr id="30" name="Shape 26"/>
          <p:cNvSpPr/>
          <p:nvPr/>
        </p:nvSpPr>
        <p:spPr>
          <a:xfrm>
            <a:off x="17325975" y="2296269"/>
            <a:ext cx="9525" cy="7190631"/>
          </a:xfrm>
          <a:prstGeom prst="rect">
            <a:avLst/>
          </a:prstGeom>
          <a:solidFill>
            <a:srgbClr val="0C2A45"/>
          </a:solidFill>
          <a:ln/>
        </p:spPr>
      </p:sp>
      <p:sp>
        <p:nvSpPr>
          <p:cNvPr id="31" name="Shape 27"/>
          <p:cNvSpPr/>
          <p:nvPr/>
        </p:nvSpPr>
        <p:spPr>
          <a:xfrm>
            <a:off x="12430125" y="2715369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4E86BF">
              <a:alpha val="18000"/>
            </a:srgbClr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53950" y="2839194"/>
            <a:ext cx="285750" cy="28575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12430125" y="3496419"/>
            <a:ext cx="500824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50" kern="0" dirty="0">
                <a:solidFill>
                  <a:srgbClr val="8FC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</a:t>
            </a:r>
            <a:endParaRPr lang="en-US" sz="1125" dirty="0"/>
          </a:p>
        </p:txBody>
      </p:sp>
      <p:sp>
        <p:nvSpPr>
          <p:cNvPr id="34" name="Text 29"/>
          <p:cNvSpPr/>
          <p:nvPr/>
        </p:nvSpPr>
        <p:spPr>
          <a:xfrm>
            <a:off x="12430125" y="3772644"/>
            <a:ext cx="50082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spc="-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centralizado e auditável</a:t>
            </a:r>
            <a:endParaRPr lang="en-US" sz="2025" dirty="0"/>
          </a:p>
        </p:txBody>
      </p:sp>
      <p:sp>
        <p:nvSpPr>
          <p:cNvPr id="35" name="Text 30"/>
          <p:cNvSpPr/>
          <p:nvPr/>
        </p:nvSpPr>
        <p:spPr>
          <a:xfrm>
            <a:off x="12430125" y="4201269"/>
            <a:ext cx="4689539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dirty="0">
                <a:solidFill>
                  <a:srgbClr val="C4D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Monitorar a saúde das aplicações, registrar indisponibilidades e gerar relatórios autenticados para conformidade e petições processuais.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18021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1D52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PERFIS DE USUÁRIO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52500" y="1085850"/>
            <a:ext cx="18021300" cy="553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133"/>
              </a:lnSpc>
              <a:buNone/>
            </a:pPr>
            <a:r>
              <a:rPr lang="en-US" sz="3900" b="1" spc="-78" kern="0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usa e o que faz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52500" y="1867644"/>
            <a:ext cx="16383000" cy="9525"/>
          </a:xfrm>
          <a:prstGeom prst="rect">
            <a:avLst/>
          </a:prstGeom>
          <a:solidFill>
            <a:srgbClr val="DDE4EC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1858119"/>
            <a:ext cx="609600" cy="28575"/>
          </a:xfrm>
          <a:prstGeom prst="rect">
            <a:avLst/>
          </a:prstGeom>
          <a:solidFill>
            <a:srgbClr val="1D5286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2258169"/>
            <a:ext cx="8029575" cy="7228731"/>
          </a:xfrm>
          <a:prstGeom prst="roundRect">
            <a:avLst>
              <a:gd name="adj" fmla="val 1845"/>
            </a:avLst>
          </a:prstGeom>
          <a:solidFill>
            <a:srgbClr val="FFFFFF"/>
          </a:solidFill>
          <a:ln w="9525">
            <a:solidFill>
              <a:srgbClr val="E4E9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43025" y="3448794"/>
            <a:ext cx="7248525" cy="9525"/>
          </a:xfrm>
          <a:prstGeom prst="rect">
            <a:avLst/>
          </a:prstGeom>
          <a:solidFill>
            <a:srgbClr val="EDF1F5"/>
          </a:solidFill>
          <a:ln/>
        </p:spPr>
      </p:sp>
      <p:sp>
        <p:nvSpPr>
          <p:cNvPr id="8" name="Shape 6"/>
          <p:cNvSpPr/>
          <p:nvPr/>
        </p:nvSpPr>
        <p:spPr>
          <a:xfrm>
            <a:off x="1343025" y="2648694"/>
            <a:ext cx="571500" cy="571500"/>
          </a:xfrm>
          <a:prstGeom prst="roundRect">
            <a:avLst>
              <a:gd name="adj" fmla="val 20000"/>
            </a:avLst>
          </a:prstGeom>
          <a:solidFill>
            <a:srgbClr val="E8EFF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76375" y="2782044"/>
            <a:ext cx="304800" cy="3048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105025" y="2653457"/>
            <a:ext cx="518636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 de Sistemas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2105025" y="3034457"/>
            <a:ext cx="518636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B7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 Administrativo · login via AD (Active Directory)</a:t>
            </a:r>
            <a:endParaRPr lang="en-US" sz="1125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43025" y="3715494"/>
            <a:ext cx="190500" cy="1905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66875" y="3686919"/>
            <a:ext cx="4150400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dirty="0">
                <a:solidFill>
                  <a:srgbClr val="334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Inclui e gerencia os sistemas monitorados</a:t>
            </a:r>
            <a:endParaRPr lang="en-US" sz="1575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43025" y="4147840"/>
            <a:ext cx="190500" cy="1905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66875" y="4119265"/>
            <a:ext cx="3550235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dirty="0">
                <a:solidFill>
                  <a:srgbClr val="334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 hierarquias entre serviços</a:t>
            </a:r>
            <a:endParaRPr lang="en-US" sz="1575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43025" y="4580186"/>
            <a:ext cx="190500" cy="1905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66875" y="4551611"/>
            <a:ext cx="4585052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dirty="0">
                <a:solidFill>
                  <a:srgbClr val="334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Recebe alertas de indisponibilidade por e-mail</a:t>
            </a:r>
            <a:endParaRPr lang="en-US" sz="1575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43025" y="5012531"/>
            <a:ext cx="190500" cy="1905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666875" y="4983956"/>
            <a:ext cx="7035641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dirty="0">
                <a:solidFill>
                  <a:srgbClr val="334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relatórios diários com hierarquia e gera relatório parcial do dia</a:t>
            </a:r>
            <a:endParaRPr lang="en-US" sz="1575" dirty="0"/>
          </a:p>
        </p:txBody>
      </p:sp>
      <p:sp>
        <p:nvSpPr>
          <p:cNvPr id="20" name="Shape 13"/>
          <p:cNvSpPr/>
          <p:nvPr/>
        </p:nvSpPr>
        <p:spPr>
          <a:xfrm>
            <a:off x="9305925" y="2258169"/>
            <a:ext cx="8029575" cy="7228731"/>
          </a:xfrm>
          <a:prstGeom prst="roundRect">
            <a:avLst>
              <a:gd name="adj" fmla="val 1845"/>
            </a:avLst>
          </a:prstGeom>
          <a:solidFill>
            <a:srgbClr val="FFFFFF"/>
          </a:solidFill>
          <a:ln w="9525">
            <a:solidFill>
              <a:srgbClr val="E4E9EF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9696450" y="3448794"/>
            <a:ext cx="7248525" cy="9525"/>
          </a:xfrm>
          <a:prstGeom prst="rect">
            <a:avLst/>
          </a:prstGeom>
          <a:solidFill>
            <a:srgbClr val="EDF1F5"/>
          </a:solidFill>
          <a:ln/>
        </p:spPr>
      </p:sp>
      <p:sp>
        <p:nvSpPr>
          <p:cNvPr id="22" name="Shape 15"/>
          <p:cNvSpPr/>
          <p:nvPr/>
        </p:nvSpPr>
        <p:spPr>
          <a:xfrm>
            <a:off x="9696450" y="2648694"/>
            <a:ext cx="571500" cy="571500"/>
          </a:xfrm>
          <a:prstGeom prst="roundRect">
            <a:avLst>
              <a:gd name="adj" fmla="val 20000"/>
            </a:avLst>
          </a:prstGeom>
          <a:solidFill>
            <a:srgbClr val="E6F1EB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829800" y="2782044"/>
            <a:ext cx="304800" cy="3048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0458450" y="2653457"/>
            <a:ext cx="405479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Usuário — Cidadão</a:t>
            </a:r>
            <a:endParaRPr lang="en-US" sz="2250" dirty="0"/>
          </a:p>
        </p:txBody>
      </p:sp>
      <p:sp>
        <p:nvSpPr>
          <p:cNvPr id="25" name="Text 17"/>
          <p:cNvSpPr/>
          <p:nvPr/>
        </p:nvSpPr>
        <p:spPr>
          <a:xfrm>
            <a:off x="10458450" y="3034457"/>
            <a:ext cx="405479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B7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 de Serviços · login via conta gov.br</a:t>
            </a:r>
            <a:endParaRPr lang="en-US" sz="1125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696450" y="3715494"/>
            <a:ext cx="190500" cy="19050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0020300" y="3686919"/>
            <a:ext cx="4784943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dirty="0">
                <a:solidFill>
                  <a:srgbClr val="334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relatórios de indisponibilidade por data</a:t>
            </a:r>
            <a:endParaRPr lang="en-US" sz="1575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696450" y="4147840"/>
            <a:ext cx="190500" cy="19050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10020300" y="4119265"/>
            <a:ext cx="6361971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dirty="0">
                <a:solidFill>
                  <a:srgbClr val="334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 os relatórios como comprovação em petições processuais</a:t>
            </a:r>
            <a:endParaRPr lang="en-US" sz="1575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696450" y="4580186"/>
            <a:ext cx="190500" cy="19050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10020300" y="4551611"/>
            <a:ext cx="4665598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dirty="0">
                <a:solidFill>
                  <a:srgbClr val="334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 a autenticidade do relatório por QR Code</a:t>
            </a:r>
            <a:endParaRPr lang="en-US" sz="1575" dirty="0"/>
          </a:p>
        </p:txBody>
      </p:sp>
      <p:sp>
        <p:nvSpPr>
          <p:cNvPr id="32" name="Text 21"/>
          <p:cNvSpPr/>
          <p:nvPr/>
        </p:nvSpPr>
        <p:spPr>
          <a:xfrm>
            <a:off x="9696450" y="8673703"/>
            <a:ext cx="7465981" cy="5179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7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 público, sem necessidade de conhecimento técnico — a comprovação precisa ser autoexplicativa.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gradFill rotWithShape="1">
            <a:gsLst>
              <a:gs pos="0">
                <a:srgbClr val="1D5286">
                  <a:alpha val="100000"/>
                </a:srgbClr>
              </a:gs>
              <a:gs pos="100000">
                <a:srgbClr val="4E86BF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14859000" y="8039100"/>
            <a:ext cx="2766060" cy="171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683"/>
              </a:lnSpc>
              <a:buNone/>
            </a:pPr>
            <a:r>
              <a:rPr lang="en-US" sz="16500" dirty="0">
                <a:ln w="19050">
                  <a:solidFill>
                    <a:srgbClr val="78A0C8"/>
                  </a:solidFill>
                </a:ln>
                <a:solidFill>
                  <a:srgbClr val="000000">
                    <a:alpha val="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500" dirty="0"/>
          </a:p>
        </p:txBody>
      </p:sp>
      <p:sp>
        <p:nvSpPr>
          <p:cNvPr id="4" name="Text 2"/>
          <p:cNvSpPr/>
          <p:nvPr/>
        </p:nvSpPr>
        <p:spPr>
          <a:xfrm>
            <a:off x="1047750" y="3334941"/>
            <a:ext cx="178117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450" kern="0" dirty="0">
                <a:solidFill>
                  <a:srgbClr val="4E8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47750" y="3782616"/>
            <a:ext cx="11525250" cy="892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600" b="1" spc="-16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 do Sistema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1047750" y="4923234"/>
            <a:ext cx="804481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B9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sistema faz, do cadastro de serviços à emissão dos relatórios autenticados.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47750" y="6085284"/>
            <a:ext cx="2132826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8FC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047750" y="6732984"/>
            <a:ext cx="213282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75" kern="0" dirty="0">
                <a:solidFill>
                  <a:srgbClr val="9FB4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especificadas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520083" y="6085284"/>
            <a:ext cx="9525" cy="866775"/>
          </a:xfrm>
          <a:prstGeom prst="rect">
            <a:avLst/>
          </a:prstGeom>
          <a:solidFill>
            <a:srgbClr val="A0BEDC">
              <a:alpha val="2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063008" y="6085284"/>
            <a:ext cx="1226641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8FC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063008" y="6732984"/>
            <a:ext cx="12266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75" kern="0" dirty="0">
                <a:solidFill>
                  <a:srgbClr val="9FB4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cenários BDD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746849" y="6085284"/>
            <a:ext cx="9525" cy="866775"/>
          </a:xfrm>
          <a:prstGeom prst="rect">
            <a:avLst/>
          </a:prstGeom>
          <a:solidFill>
            <a:srgbClr val="A0BEDC">
              <a:alpha val="2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289774" y="6085284"/>
            <a:ext cx="1674927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8FC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6289774" y="6732984"/>
            <a:ext cx="167492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75" kern="0" dirty="0">
                <a:solidFill>
                  <a:srgbClr val="9FB4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de negócio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18021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1D52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FUNCIONALIDADES — VISÃO GERAL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52500" y="1085850"/>
            <a:ext cx="18021300" cy="553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133"/>
              </a:lnSpc>
              <a:buNone/>
            </a:pPr>
            <a:r>
              <a:rPr lang="en-US" sz="3900" b="1" spc="-78" kern="0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 funcionalidades, um fluxo único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52500" y="1848594"/>
            <a:ext cx="16383000" cy="9525"/>
          </a:xfrm>
          <a:prstGeom prst="rect">
            <a:avLst/>
          </a:prstGeom>
          <a:solidFill>
            <a:srgbClr val="DDE4EC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1839069"/>
            <a:ext cx="609600" cy="28575"/>
          </a:xfrm>
          <a:prstGeom prst="rect">
            <a:avLst/>
          </a:prstGeom>
          <a:solidFill>
            <a:srgbClr val="1D5286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2201019"/>
            <a:ext cx="3924300" cy="3528566"/>
          </a:xfrm>
          <a:prstGeom prst="roundRect">
            <a:avLst>
              <a:gd name="adj" fmla="val 3779"/>
            </a:avLst>
          </a:prstGeom>
          <a:solidFill>
            <a:srgbClr val="FFFFFF"/>
          </a:solidFill>
          <a:ln w="9525">
            <a:solidFill>
              <a:srgbClr val="E4E9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28725" y="2477244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E8EF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33500" y="2582019"/>
            <a:ext cx="247650" cy="2476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28725" y="3105894"/>
            <a:ext cx="3709035" cy="289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963"/>
              </a:lnSpc>
              <a:buNone/>
            </a:pPr>
            <a:r>
              <a:rPr lang="en-US" sz="1725" b="1" spc="-17" kern="0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Gerenciamento de Serviços</a:t>
            </a:r>
            <a:endParaRPr lang="en-US" sz="1725" dirty="0"/>
          </a:p>
        </p:txBody>
      </p:sp>
      <p:sp>
        <p:nvSpPr>
          <p:cNvPr id="10" name="Text 7"/>
          <p:cNvSpPr/>
          <p:nvPr/>
        </p:nvSpPr>
        <p:spPr>
          <a:xfrm>
            <a:off x="1228725" y="5272385"/>
            <a:ext cx="347300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B7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cenários · 12 regras</a:t>
            </a:r>
            <a:endParaRPr lang="en-US" sz="1125" dirty="0"/>
          </a:p>
        </p:txBody>
      </p:sp>
      <p:sp>
        <p:nvSpPr>
          <p:cNvPr id="11" name="Shape 8"/>
          <p:cNvSpPr/>
          <p:nvPr/>
        </p:nvSpPr>
        <p:spPr>
          <a:xfrm>
            <a:off x="5105400" y="2201019"/>
            <a:ext cx="3924300" cy="3528566"/>
          </a:xfrm>
          <a:prstGeom prst="roundRect">
            <a:avLst>
              <a:gd name="adj" fmla="val 3779"/>
            </a:avLst>
          </a:prstGeom>
          <a:solidFill>
            <a:srgbClr val="FFFFFF"/>
          </a:solidFill>
          <a:ln w="9525">
            <a:solidFill>
              <a:srgbClr val="E4E9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81625" y="2477244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E8EFF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0" y="2582019"/>
            <a:ext cx="247650" cy="2476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81625" y="3105894"/>
            <a:ext cx="3709035" cy="289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963"/>
              </a:lnSpc>
              <a:buNone/>
            </a:pPr>
            <a:r>
              <a:rPr lang="en-US" sz="1725" b="1" spc="-17" kern="0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de Healthcheck</a:t>
            </a:r>
            <a:endParaRPr lang="en-US" sz="1725" dirty="0"/>
          </a:p>
        </p:txBody>
      </p:sp>
      <p:sp>
        <p:nvSpPr>
          <p:cNvPr id="15" name="Text 11"/>
          <p:cNvSpPr/>
          <p:nvPr/>
        </p:nvSpPr>
        <p:spPr>
          <a:xfrm>
            <a:off x="5381625" y="5272385"/>
            <a:ext cx="347300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B7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cenários · 11 regras</a:t>
            </a:r>
            <a:endParaRPr lang="en-US" sz="1125" dirty="0"/>
          </a:p>
        </p:txBody>
      </p:sp>
      <p:sp>
        <p:nvSpPr>
          <p:cNvPr id="16" name="Shape 12"/>
          <p:cNvSpPr/>
          <p:nvPr/>
        </p:nvSpPr>
        <p:spPr>
          <a:xfrm>
            <a:off x="9258300" y="2201019"/>
            <a:ext cx="3924300" cy="3528566"/>
          </a:xfrm>
          <a:prstGeom prst="roundRect">
            <a:avLst>
              <a:gd name="adj" fmla="val 3779"/>
            </a:avLst>
          </a:prstGeom>
          <a:solidFill>
            <a:srgbClr val="FFFFFF"/>
          </a:solidFill>
          <a:ln w="9525">
            <a:solidFill>
              <a:srgbClr val="E4E9E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534525" y="2477244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E8EFF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39300" y="2582019"/>
            <a:ext cx="247650" cy="2476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534525" y="3105894"/>
            <a:ext cx="3709035" cy="289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963"/>
              </a:lnSpc>
              <a:buNone/>
            </a:pPr>
            <a:r>
              <a:rPr lang="en-US" sz="1725" b="1" spc="-17" kern="0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Hierarquia de Serviços</a:t>
            </a:r>
            <a:endParaRPr lang="en-US" sz="1725" dirty="0"/>
          </a:p>
        </p:txBody>
      </p:sp>
      <p:sp>
        <p:nvSpPr>
          <p:cNvPr id="20" name="Text 15"/>
          <p:cNvSpPr/>
          <p:nvPr/>
        </p:nvSpPr>
        <p:spPr>
          <a:xfrm>
            <a:off x="9534525" y="5272385"/>
            <a:ext cx="347300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B7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cenários · 8 regras</a:t>
            </a:r>
            <a:endParaRPr lang="en-US" sz="1125" dirty="0"/>
          </a:p>
        </p:txBody>
      </p:sp>
      <p:sp>
        <p:nvSpPr>
          <p:cNvPr id="21" name="Shape 16"/>
          <p:cNvSpPr/>
          <p:nvPr/>
        </p:nvSpPr>
        <p:spPr>
          <a:xfrm>
            <a:off x="13411200" y="2201019"/>
            <a:ext cx="3924300" cy="3528566"/>
          </a:xfrm>
          <a:prstGeom prst="roundRect">
            <a:avLst>
              <a:gd name="adj" fmla="val 3779"/>
            </a:avLst>
          </a:prstGeom>
          <a:solidFill>
            <a:srgbClr val="FFFFFF"/>
          </a:solidFill>
          <a:ln w="9525">
            <a:solidFill>
              <a:srgbClr val="E4E9E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13687425" y="2477244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E8EFF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792200" y="2582019"/>
            <a:ext cx="247650" cy="24765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687425" y="3105894"/>
            <a:ext cx="3709035" cy="289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963"/>
              </a:lnSpc>
              <a:buNone/>
            </a:pPr>
            <a:r>
              <a:rPr lang="en-US" sz="1725" b="1" spc="-17" kern="0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por Limiar</a:t>
            </a:r>
            <a:endParaRPr lang="en-US" sz="1725" dirty="0"/>
          </a:p>
        </p:txBody>
      </p:sp>
      <p:sp>
        <p:nvSpPr>
          <p:cNvPr id="25" name="Text 19"/>
          <p:cNvSpPr/>
          <p:nvPr/>
        </p:nvSpPr>
        <p:spPr>
          <a:xfrm>
            <a:off x="13687425" y="5272385"/>
            <a:ext cx="347300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B7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cenários · 11 regras</a:t>
            </a:r>
            <a:endParaRPr lang="en-US" sz="1125" dirty="0"/>
          </a:p>
        </p:txBody>
      </p:sp>
      <p:sp>
        <p:nvSpPr>
          <p:cNvPr id="26" name="Shape 20"/>
          <p:cNvSpPr/>
          <p:nvPr/>
        </p:nvSpPr>
        <p:spPr>
          <a:xfrm>
            <a:off x="952500" y="5958185"/>
            <a:ext cx="3924300" cy="3528715"/>
          </a:xfrm>
          <a:prstGeom prst="roundRect">
            <a:avLst>
              <a:gd name="adj" fmla="val 3779"/>
            </a:avLst>
          </a:prstGeom>
          <a:solidFill>
            <a:srgbClr val="FFFFFF"/>
          </a:solidFill>
          <a:ln w="9525">
            <a:solidFill>
              <a:srgbClr val="E4E9EF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228725" y="623441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E8EFF6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33500" y="6339185"/>
            <a:ext cx="247650" cy="24765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228725" y="6863060"/>
            <a:ext cx="3709035" cy="289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963"/>
              </a:lnSpc>
              <a:buNone/>
            </a:pPr>
            <a:r>
              <a:rPr lang="en-US" sz="1725" b="1" spc="-17" kern="0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Diário do Admin</a:t>
            </a:r>
            <a:endParaRPr lang="en-US" sz="1725" dirty="0"/>
          </a:p>
        </p:txBody>
      </p:sp>
      <p:sp>
        <p:nvSpPr>
          <p:cNvPr id="30" name="Text 23"/>
          <p:cNvSpPr/>
          <p:nvPr/>
        </p:nvSpPr>
        <p:spPr>
          <a:xfrm>
            <a:off x="1228725" y="9029700"/>
            <a:ext cx="347300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B7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cenários · 8 regras</a:t>
            </a:r>
            <a:endParaRPr lang="en-US" sz="1125" dirty="0"/>
          </a:p>
        </p:txBody>
      </p:sp>
      <p:sp>
        <p:nvSpPr>
          <p:cNvPr id="31" name="Shape 24"/>
          <p:cNvSpPr/>
          <p:nvPr/>
        </p:nvSpPr>
        <p:spPr>
          <a:xfrm>
            <a:off x="5105400" y="5958185"/>
            <a:ext cx="3924300" cy="3528715"/>
          </a:xfrm>
          <a:prstGeom prst="roundRect">
            <a:avLst>
              <a:gd name="adj" fmla="val 3779"/>
            </a:avLst>
          </a:prstGeom>
          <a:solidFill>
            <a:srgbClr val="FFFFFF"/>
          </a:solidFill>
          <a:ln w="9525">
            <a:solidFill>
              <a:srgbClr val="E4E9EF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5381625" y="623441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E8EFF6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86400" y="6339185"/>
            <a:ext cx="247650" cy="24765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381625" y="6863060"/>
            <a:ext cx="3709035" cy="289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963"/>
              </a:lnSpc>
              <a:buNone/>
            </a:pPr>
            <a:r>
              <a:rPr lang="en-US" sz="1725" b="1" spc="-17" kern="0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de Relatórios</a:t>
            </a:r>
            <a:endParaRPr lang="en-US" sz="1725" dirty="0"/>
          </a:p>
        </p:txBody>
      </p:sp>
      <p:sp>
        <p:nvSpPr>
          <p:cNvPr id="35" name="Text 27"/>
          <p:cNvSpPr/>
          <p:nvPr/>
        </p:nvSpPr>
        <p:spPr>
          <a:xfrm>
            <a:off x="5381625" y="9029700"/>
            <a:ext cx="347300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B7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cenários · 8 regras</a:t>
            </a:r>
            <a:endParaRPr lang="en-US" sz="1125" dirty="0"/>
          </a:p>
        </p:txBody>
      </p:sp>
      <p:sp>
        <p:nvSpPr>
          <p:cNvPr id="36" name="Shape 28"/>
          <p:cNvSpPr/>
          <p:nvPr/>
        </p:nvSpPr>
        <p:spPr>
          <a:xfrm>
            <a:off x="9258300" y="5958185"/>
            <a:ext cx="3924300" cy="3528715"/>
          </a:xfrm>
          <a:prstGeom prst="roundRect">
            <a:avLst>
              <a:gd name="adj" fmla="val 3779"/>
            </a:avLst>
          </a:prstGeom>
          <a:solidFill>
            <a:srgbClr val="FFFFFF"/>
          </a:solidFill>
          <a:ln w="9525">
            <a:solidFill>
              <a:srgbClr val="E4E9EF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9534525" y="623441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E8EFF6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639300" y="6339185"/>
            <a:ext cx="247650" cy="24765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9534525" y="6863060"/>
            <a:ext cx="3709035" cy="289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963"/>
              </a:lnSpc>
              <a:buNone/>
            </a:pPr>
            <a:r>
              <a:rPr lang="en-US" sz="1725" b="1" spc="-17" kern="0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Autenticação de Relatório</a:t>
            </a:r>
            <a:endParaRPr lang="en-US" sz="1725" dirty="0"/>
          </a:p>
        </p:txBody>
      </p:sp>
      <p:sp>
        <p:nvSpPr>
          <p:cNvPr id="40" name="Text 31"/>
          <p:cNvSpPr/>
          <p:nvPr/>
        </p:nvSpPr>
        <p:spPr>
          <a:xfrm>
            <a:off x="9534525" y="9029700"/>
            <a:ext cx="347300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B7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cenários · 5 regras</a:t>
            </a:r>
            <a:endParaRPr lang="en-US" sz="1125" dirty="0"/>
          </a:p>
        </p:txBody>
      </p:sp>
      <p:sp>
        <p:nvSpPr>
          <p:cNvPr id="41" name="Shape 32"/>
          <p:cNvSpPr/>
          <p:nvPr/>
        </p:nvSpPr>
        <p:spPr>
          <a:xfrm>
            <a:off x="13411200" y="5958185"/>
            <a:ext cx="3924300" cy="3528715"/>
          </a:xfrm>
          <a:prstGeom prst="roundRect">
            <a:avLst>
              <a:gd name="adj" fmla="val 3779"/>
            </a:avLst>
          </a:prstGeom>
          <a:gradFill rotWithShape="1">
            <a:gsLst>
              <a:gs pos="0">
                <a:srgbClr val="16466E">
                  <a:alpha val="100000"/>
                </a:srgbClr>
              </a:gs>
              <a:gs pos="100000">
                <a:srgbClr val="0C2A45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42" name="Text 33"/>
          <p:cNvSpPr/>
          <p:nvPr/>
        </p:nvSpPr>
        <p:spPr>
          <a:xfrm>
            <a:off x="13677900" y="7310140"/>
            <a:ext cx="372999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0" kern="0" dirty="0">
                <a:solidFill>
                  <a:srgbClr val="8FC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DETALHAMENTO</a:t>
            </a:r>
            <a:endParaRPr lang="en-US" sz="1125" dirty="0"/>
          </a:p>
        </p:txBody>
      </p:sp>
      <p:sp>
        <p:nvSpPr>
          <p:cNvPr id="43" name="Text 34"/>
          <p:cNvSpPr/>
          <p:nvPr/>
        </p:nvSpPr>
        <p:spPr>
          <a:xfrm>
            <a:off x="13677900" y="7586365"/>
            <a:ext cx="3492627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seguir, cada funcionalidade em detalhe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18021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1D52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GERENCIAMENTO DE SERVIÇOS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52500" y="1085850"/>
            <a:ext cx="18021300" cy="553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133"/>
              </a:lnSpc>
              <a:buNone/>
            </a:pPr>
            <a:r>
              <a:rPr lang="en-US" sz="3900" b="1" spc="-78" kern="0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ciclo de vida de um serviço monitorado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52500" y="1848594"/>
            <a:ext cx="16383000" cy="9525"/>
          </a:xfrm>
          <a:prstGeom prst="rect">
            <a:avLst/>
          </a:prstGeom>
          <a:solidFill>
            <a:srgbClr val="DDE4EC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1839069"/>
            <a:ext cx="609600" cy="28575"/>
          </a:xfrm>
          <a:prstGeom prst="rect">
            <a:avLst/>
          </a:prstGeom>
          <a:solidFill>
            <a:srgbClr val="1D5286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4219873"/>
            <a:ext cx="3124200" cy="2314575"/>
          </a:xfrm>
          <a:prstGeom prst="roundRect">
            <a:avLst>
              <a:gd name="adj" fmla="val 5761"/>
            </a:avLst>
          </a:prstGeom>
          <a:solidFill>
            <a:srgbClr val="FFFFFF"/>
          </a:solidFill>
          <a:ln w="9525">
            <a:solidFill>
              <a:srgbClr val="E4E9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90625" y="4496098"/>
            <a:ext cx="291274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D52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1190625" y="4791373"/>
            <a:ext cx="29127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Inclusão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90625" y="5172373"/>
            <a:ext cx="2727389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45"/>
              </a:lnSpc>
              <a:buNone/>
            </a:pPr>
            <a:r>
              <a:rPr lang="en-US" sz="1425" dirty="0">
                <a:solidFill>
                  <a:srgbClr val="41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Seleciona o sistema do inventário do Portal, informa a URL de healthcheck e configura a hierarquia.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4267200" y="4219873"/>
            <a:ext cx="3124200" cy="2314575"/>
          </a:xfrm>
          <a:prstGeom prst="roundRect">
            <a:avLst>
              <a:gd name="adj" fmla="val 5761"/>
            </a:avLst>
          </a:prstGeom>
          <a:solidFill>
            <a:srgbClr val="FFFFFF"/>
          </a:solidFill>
          <a:ln w="9525">
            <a:solidFill>
              <a:srgbClr val="E4E9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5325" y="4496098"/>
            <a:ext cx="291274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D52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4505325" y="4791373"/>
            <a:ext cx="29127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Edição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05325" y="5172373"/>
            <a:ext cx="2727389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45"/>
              </a:lnSpc>
              <a:buNone/>
            </a:pPr>
            <a:r>
              <a:rPr lang="en-US" sz="1425" dirty="0">
                <a:solidFill>
                  <a:srgbClr val="41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Altera URL, adiciona ou remove pais e ativa/inativa o serviço por toggle.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7581900" y="4219873"/>
            <a:ext cx="3124200" cy="2314575"/>
          </a:xfrm>
          <a:prstGeom prst="roundRect">
            <a:avLst>
              <a:gd name="adj" fmla="val 5761"/>
            </a:avLst>
          </a:prstGeom>
          <a:solidFill>
            <a:srgbClr val="FFFFFF"/>
          </a:solidFill>
          <a:ln w="9525">
            <a:solidFill>
              <a:srgbClr val="E4E9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20025" y="4496098"/>
            <a:ext cx="291274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D52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7820025" y="4791373"/>
            <a:ext cx="29127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Inativação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820025" y="5172373"/>
            <a:ext cx="2727389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45"/>
              </a:lnSpc>
              <a:buNone/>
            </a:pPr>
            <a:r>
              <a:rPr lang="en-US" sz="1425" dirty="0">
                <a:solidFill>
                  <a:srgbClr val="41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Interrompe o monitoramento e remove vínculos, mantendo o histórico completo.</a:t>
            </a:r>
            <a:endParaRPr lang="en-US" sz="1425" dirty="0"/>
          </a:p>
        </p:txBody>
      </p:sp>
      <p:sp>
        <p:nvSpPr>
          <p:cNvPr id="18" name="Shape 16"/>
          <p:cNvSpPr/>
          <p:nvPr/>
        </p:nvSpPr>
        <p:spPr>
          <a:xfrm>
            <a:off x="10896600" y="4219873"/>
            <a:ext cx="3124200" cy="2314575"/>
          </a:xfrm>
          <a:prstGeom prst="roundRect">
            <a:avLst>
              <a:gd name="adj" fmla="val 5761"/>
            </a:avLst>
          </a:prstGeom>
          <a:solidFill>
            <a:srgbClr val="FFFFFF"/>
          </a:solidFill>
          <a:ln w="9525">
            <a:solidFill>
              <a:srgbClr val="E4E9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34725" y="4496098"/>
            <a:ext cx="291274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D52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11134725" y="4791373"/>
            <a:ext cx="29127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Reativação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134725" y="5172373"/>
            <a:ext cx="2727389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45"/>
              </a:lnSpc>
              <a:buNone/>
            </a:pPr>
            <a:r>
              <a:rPr lang="en-US" sz="1425" dirty="0">
                <a:solidFill>
                  <a:srgbClr val="41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Retoma o monitoramento e pergunta se deseja restaurar a hierarquia anterior.</a:t>
            </a:r>
            <a:endParaRPr lang="en-US" sz="1425" dirty="0"/>
          </a:p>
        </p:txBody>
      </p:sp>
      <p:sp>
        <p:nvSpPr>
          <p:cNvPr id="22" name="Shape 20"/>
          <p:cNvSpPr/>
          <p:nvPr/>
        </p:nvSpPr>
        <p:spPr>
          <a:xfrm>
            <a:off x="14211300" y="4219873"/>
            <a:ext cx="3124200" cy="2314575"/>
          </a:xfrm>
          <a:prstGeom prst="roundRect">
            <a:avLst>
              <a:gd name="adj" fmla="val 5761"/>
            </a:avLst>
          </a:prstGeom>
          <a:solidFill>
            <a:srgbClr val="FFFFFF"/>
          </a:solidFill>
          <a:ln w="9525">
            <a:solidFill>
              <a:srgbClr val="E4E9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49425" y="4496098"/>
            <a:ext cx="291274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B76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14449425" y="4791373"/>
            <a:ext cx="29127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Remoção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449425" y="5172373"/>
            <a:ext cx="2727389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45"/>
              </a:lnSpc>
              <a:buNone/>
            </a:pPr>
            <a:r>
              <a:rPr lang="en-US" sz="1425" dirty="0">
                <a:solidFill>
                  <a:srgbClr val="41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da lista e elimina vínculos permanentemente — o histórico é preservado.</a:t>
            </a:r>
            <a:endParaRPr lang="en-US" sz="1425" dirty="0"/>
          </a:p>
        </p:txBody>
      </p:sp>
      <p:sp>
        <p:nvSpPr>
          <p:cNvPr id="26" name="Shape 24"/>
          <p:cNvSpPr/>
          <p:nvPr/>
        </p:nvSpPr>
        <p:spPr>
          <a:xfrm>
            <a:off x="952500" y="8839200"/>
            <a:ext cx="16383000" cy="647700"/>
          </a:xfrm>
          <a:prstGeom prst="roundRect">
            <a:avLst>
              <a:gd name="adj" fmla="val 17647"/>
            </a:avLst>
          </a:prstGeom>
          <a:solidFill>
            <a:srgbClr val="EEF2F6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0150" y="9048750"/>
            <a:ext cx="228600" cy="2286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562100" y="9029700"/>
            <a:ext cx="1195515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334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inventário de sistemas vem de um </a:t>
            </a:r>
            <a:pPr algn="l" indent="0" marL="0">
              <a:lnSpc>
                <a:spcPct val="121739"/>
              </a:lnSpc>
              <a:buNone/>
            </a:pPr>
            <a:r>
              <a:rPr lang="en-US" sz="1500" b="1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externo do Portal de Serviços </a:t>
            </a:r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334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 cadastro não é responsabilidade deste sistema.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18021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1D52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MONITORAMENTO DE HEALTHCHECK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52500" y="1085850"/>
            <a:ext cx="18021300" cy="553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133"/>
              </a:lnSpc>
              <a:buNone/>
            </a:pPr>
            <a:r>
              <a:rPr lang="en-US" sz="3900" b="1" spc="-78" kern="0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Detecção com debounce buffer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52500" y="1829544"/>
            <a:ext cx="16383000" cy="9525"/>
          </a:xfrm>
          <a:prstGeom prst="rect">
            <a:avLst/>
          </a:prstGeom>
          <a:solidFill>
            <a:srgbClr val="DDE4EC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1820019"/>
            <a:ext cx="609600" cy="28575"/>
          </a:xfrm>
          <a:prstGeom prst="rect">
            <a:avLst/>
          </a:prstGeom>
          <a:solidFill>
            <a:srgbClr val="1D5286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2143869"/>
            <a:ext cx="1072470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0" kern="0" dirty="0">
                <a:solidFill>
                  <a:srgbClr val="6B7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FLUXO DE DETECÇÃO</a:t>
            </a:r>
            <a:endParaRPr lang="en-US" sz="1125" dirty="0"/>
          </a:p>
        </p:txBody>
      </p:sp>
      <p:sp>
        <p:nvSpPr>
          <p:cNvPr id="7" name="Shape 5"/>
          <p:cNvSpPr/>
          <p:nvPr/>
        </p:nvSpPr>
        <p:spPr>
          <a:xfrm>
            <a:off x="952500" y="2496294"/>
            <a:ext cx="2881610" cy="6990606"/>
          </a:xfrm>
          <a:prstGeom prst="roundRect">
            <a:avLst>
              <a:gd name="adj" fmla="val 4628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952500" y="9477375"/>
            <a:ext cx="2881610" cy="9525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9" name="Shape 7"/>
          <p:cNvSpPr/>
          <p:nvPr/>
        </p:nvSpPr>
        <p:spPr>
          <a:xfrm>
            <a:off x="952500" y="2496294"/>
            <a:ext cx="2881610" cy="3810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0" name="Shape 8"/>
          <p:cNvSpPr/>
          <p:nvPr/>
        </p:nvSpPr>
        <p:spPr>
          <a:xfrm>
            <a:off x="952500" y="2496294"/>
            <a:ext cx="9525" cy="6990606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11" name="Shape 9"/>
          <p:cNvSpPr/>
          <p:nvPr/>
        </p:nvSpPr>
        <p:spPr>
          <a:xfrm>
            <a:off x="3824585" y="2496294"/>
            <a:ext cx="9525" cy="6990606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12" name="Text 10"/>
          <p:cNvSpPr/>
          <p:nvPr/>
        </p:nvSpPr>
        <p:spPr>
          <a:xfrm>
            <a:off x="1171575" y="2782044"/>
            <a:ext cx="268780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1ª Falha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171575" y="3124944"/>
            <a:ext cx="2519660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350" dirty="0">
                <a:solidFill>
                  <a:srgbClr val="41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 registro no buffer em memória. Período </a:t>
            </a:r>
            <a:pPr algn="l" indent="0" marL="0">
              <a:lnSpc>
                <a:spcPct val="124286"/>
              </a:lnSpc>
              <a:buNone/>
            </a:pPr>
            <a:r>
              <a:rPr lang="en-US" sz="1350" b="1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ainda não salvo </a:t>
            </a:r>
            <a:pPr algn="l" indent="0" marL="0">
              <a:lnSpc>
                <a:spcPct val="124286"/>
              </a:lnSpc>
              <a:buNone/>
            </a:pPr>
            <a:r>
              <a:rPr lang="en-US" sz="1350" dirty="0">
                <a:solidFill>
                  <a:srgbClr val="41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banco.</a:t>
            </a:r>
            <a:endParaRPr lang="en-US" sz="13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7460" y="5829598"/>
            <a:ext cx="285750" cy="28575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386560" y="2496294"/>
            <a:ext cx="2881610" cy="6990606"/>
          </a:xfrm>
          <a:prstGeom prst="roundRect">
            <a:avLst>
              <a:gd name="adj" fmla="val 4628"/>
            </a:avLst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4386560" y="9477375"/>
            <a:ext cx="2881610" cy="9525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17" name="Shape 14"/>
          <p:cNvSpPr/>
          <p:nvPr/>
        </p:nvSpPr>
        <p:spPr>
          <a:xfrm>
            <a:off x="4386560" y="2496294"/>
            <a:ext cx="2881610" cy="38100"/>
          </a:xfrm>
          <a:prstGeom prst="rect">
            <a:avLst/>
          </a:prstGeom>
          <a:solidFill>
            <a:srgbClr val="B76F27"/>
          </a:solidFill>
          <a:ln/>
        </p:spPr>
      </p:sp>
      <p:sp>
        <p:nvSpPr>
          <p:cNvPr id="18" name="Shape 15"/>
          <p:cNvSpPr/>
          <p:nvPr/>
        </p:nvSpPr>
        <p:spPr>
          <a:xfrm>
            <a:off x="4386560" y="2496294"/>
            <a:ext cx="9525" cy="6990606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19" name="Shape 16"/>
          <p:cNvSpPr/>
          <p:nvPr/>
        </p:nvSpPr>
        <p:spPr>
          <a:xfrm>
            <a:off x="7258645" y="2496294"/>
            <a:ext cx="9525" cy="6990606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20" name="Text 17"/>
          <p:cNvSpPr/>
          <p:nvPr/>
        </p:nvSpPr>
        <p:spPr>
          <a:xfrm>
            <a:off x="4605635" y="2782044"/>
            <a:ext cx="268780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2ª Falha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4605635" y="3124944"/>
            <a:ext cx="2519660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350" dirty="0">
                <a:solidFill>
                  <a:srgbClr val="41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 a indisponibilidade. </a:t>
            </a:r>
            <a:pPr algn="l" indent="0" marL="0">
              <a:lnSpc>
                <a:spcPct val="124286"/>
              </a:lnSpc>
              <a:buNone/>
            </a:pPr>
            <a:r>
              <a:rPr lang="en-US" sz="1350" b="1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 o início </a:t>
            </a:r>
            <a:pPr algn="l" indent="0" marL="0">
              <a:lnSpc>
                <a:spcPct val="124286"/>
              </a:lnSpc>
              <a:buNone/>
            </a:pPr>
            <a:r>
              <a:rPr lang="en-US" sz="1350" dirty="0">
                <a:solidFill>
                  <a:srgbClr val="41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Oracle 19c e atualiza o buffer.</a:t>
            </a:r>
            <a:endParaRPr lang="en-US" sz="135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01520" y="5829598"/>
            <a:ext cx="285750" cy="28575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7820620" y="2496294"/>
            <a:ext cx="2881610" cy="6990606"/>
          </a:xfrm>
          <a:prstGeom prst="roundRect">
            <a:avLst>
              <a:gd name="adj" fmla="val 4628"/>
            </a:avLst>
          </a:prstGeom>
          <a:solidFill>
            <a:srgbClr val="FFFFFF"/>
          </a:solidFill>
          <a:ln/>
        </p:spPr>
      </p:sp>
      <p:sp>
        <p:nvSpPr>
          <p:cNvPr id="24" name="Shape 20"/>
          <p:cNvSpPr/>
          <p:nvPr/>
        </p:nvSpPr>
        <p:spPr>
          <a:xfrm>
            <a:off x="7820620" y="9477375"/>
            <a:ext cx="2881610" cy="9525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25" name="Shape 21"/>
          <p:cNvSpPr/>
          <p:nvPr/>
        </p:nvSpPr>
        <p:spPr>
          <a:xfrm>
            <a:off x="7820620" y="2496294"/>
            <a:ext cx="2881610" cy="3810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26" name="Shape 22"/>
          <p:cNvSpPr/>
          <p:nvPr/>
        </p:nvSpPr>
        <p:spPr>
          <a:xfrm>
            <a:off x="7820620" y="2496294"/>
            <a:ext cx="9525" cy="6990606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27" name="Shape 23"/>
          <p:cNvSpPr/>
          <p:nvPr/>
        </p:nvSpPr>
        <p:spPr>
          <a:xfrm>
            <a:off x="10692705" y="2496294"/>
            <a:ext cx="9525" cy="6990606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28" name="Text 24"/>
          <p:cNvSpPr/>
          <p:nvPr/>
        </p:nvSpPr>
        <p:spPr>
          <a:xfrm>
            <a:off x="8039695" y="2782044"/>
            <a:ext cx="268780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Recuperação</a:t>
            </a:r>
            <a:endParaRPr lang="en-US" sz="1650" dirty="0"/>
          </a:p>
        </p:txBody>
      </p:sp>
      <p:sp>
        <p:nvSpPr>
          <p:cNvPr id="29" name="Text 25"/>
          <p:cNvSpPr/>
          <p:nvPr/>
        </p:nvSpPr>
        <p:spPr>
          <a:xfrm>
            <a:off x="8039695" y="3124944"/>
            <a:ext cx="2519660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350" b="1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 o período </a:t>
            </a:r>
            <a:pPr algn="l" indent="0" marL="0">
              <a:lnSpc>
                <a:spcPct val="124286"/>
              </a:lnSpc>
              <a:buNone/>
            </a:pPr>
            <a:r>
              <a:rPr lang="en-US" sz="1350" dirty="0">
                <a:solidFill>
                  <a:srgbClr val="41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banco, limpa o buffer e retoma o ciclo normal.</a:t>
            </a:r>
            <a:endParaRPr lang="en-US" sz="1350" dirty="0"/>
          </a:p>
        </p:txBody>
      </p:sp>
      <p:sp>
        <p:nvSpPr>
          <p:cNvPr id="30" name="Shape 26"/>
          <p:cNvSpPr/>
          <p:nvPr/>
        </p:nvSpPr>
        <p:spPr>
          <a:xfrm>
            <a:off x="11045130" y="2143869"/>
            <a:ext cx="6290221" cy="7343031"/>
          </a:xfrm>
          <a:prstGeom prst="roundRect">
            <a:avLst>
              <a:gd name="adj" fmla="val 2120"/>
            </a:avLst>
          </a:prstGeom>
          <a:solidFill>
            <a:srgbClr val="0C2A45"/>
          </a:solidFill>
          <a:ln/>
        </p:spPr>
      </p:sp>
      <p:sp>
        <p:nvSpPr>
          <p:cNvPr id="31" name="Text 27"/>
          <p:cNvSpPr/>
          <p:nvPr/>
        </p:nvSpPr>
        <p:spPr>
          <a:xfrm>
            <a:off x="11349930" y="2448669"/>
            <a:ext cx="624868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0" kern="0" dirty="0">
                <a:solidFill>
                  <a:srgbClr val="8FC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REGRAS PRINCIPAIS</a:t>
            </a:r>
            <a:endParaRPr lang="en-US" sz="1125" dirty="0"/>
          </a:p>
        </p:txBody>
      </p:sp>
      <p:sp>
        <p:nvSpPr>
          <p:cNvPr id="32" name="Text 28"/>
          <p:cNvSpPr/>
          <p:nvPr/>
        </p:nvSpPr>
        <p:spPr>
          <a:xfrm>
            <a:off x="11349930" y="2820144"/>
            <a:ext cx="228600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227"/>
              </a:lnSpc>
              <a:buNone/>
            </a:pPr>
            <a:r>
              <a:rPr lang="en-US" sz="1425" dirty="0">
                <a:solidFill>
                  <a:srgbClr val="8FC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425" dirty="0"/>
          </a:p>
        </p:txBody>
      </p:sp>
      <p:sp>
        <p:nvSpPr>
          <p:cNvPr id="33" name="Text 29"/>
          <p:cNvSpPr/>
          <p:nvPr/>
        </p:nvSpPr>
        <p:spPr>
          <a:xfrm>
            <a:off x="11616630" y="2820144"/>
            <a:ext cx="3417957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227"/>
              </a:lnSpc>
              <a:buNone/>
            </a:pPr>
            <a:r>
              <a:rPr lang="en-US" sz="1425" dirty="0">
                <a:solidFill>
                  <a:srgbClr val="D3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Verificação a cada </a:t>
            </a:r>
            <a:pPr algn="l" indent="0" marL="0">
              <a:lnSpc>
                <a:spcPct val="125227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min </a:t>
            </a:r>
            <a:pPr algn="l" indent="0" marL="0">
              <a:lnSpc>
                <a:spcPct val="125227"/>
              </a:lnSpc>
              <a:buNone/>
            </a:pPr>
            <a:r>
              <a:rPr lang="en-US" sz="1425" dirty="0">
                <a:solidFill>
                  <a:srgbClr val="D3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(configurável)</a:t>
            </a:r>
            <a:endParaRPr lang="en-US" sz="1425" dirty="0"/>
          </a:p>
        </p:txBody>
      </p:sp>
      <p:sp>
        <p:nvSpPr>
          <p:cNvPr id="34" name="Text 30"/>
          <p:cNvSpPr/>
          <p:nvPr/>
        </p:nvSpPr>
        <p:spPr>
          <a:xfrm>
            <a:off x="11349930" y="3234928"/>
            <a:ext cx="228600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227"/>
              </a:lnSpc>
              <a:buNone/>
            </a:pPr>
            <a:r>
              <a:rPr lang="en-US" sz="1425" dirty="0">
                <a:solidFill>
                  <a:srgbClr val="8FC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425" dirty="0"/>
          </a:p>
        </p:txBody>
      </p:sp>
      <p:sp>
        <p:nvSpPr>
          <p:cNvPr id="35" name="Text 31"/>
          <p:cNvSpPr/>
          <p:nvPr/>
        </p:nvSpPr>
        <p:spPr>
          <a:xfrm>
            <a:off x="11616630" y="3234928"/>
            <a:ext cx="4702269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227"/>
              </a:lnSpc>
              <a:buNone/>
            </a:pPr>
            <a:r>
              <a:rPr lang="en-US" sz="1425" dirty="0">
                <a:solidFill>
                  <a:srgbClr val="D3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Padrões </a:t>
            </a:r>
            <a:pPr algn="l" indent="0" marL="0">
              <a:lnSpc>
                <a:spcPct val="125227"/>
              </a:lnSpc>
              <a:buNone/>
            </a:pPr>
            <a:r>
              <a:rPr lang="en-US" sz="1200" dirty="0">
                <a:solidFill>
                  <a:srgbClr val="D3D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.NET HealthChecks </a:t>
            </a:r>
            <a:pPr algn="l" indent="0" marL="0">
              <a:lnSpc>
                <a:spcPct val="125227"/>
              </a:lnSpc>
              <a:buNone/>
            </a:pPr>
            <a:r>
              <a:rPr lang="en-US" sz="1425" dirty="0">
                <a:solidFill>
                  <a:srgbClr val="D3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</a:t>
            </a:r>
            <a:pPr algn="l" indent="0" marL="0">
              <a:lnSpc>
                <a:spcPct val="125227"/>
              </a:lnSpc>
              <a:buNone/>
            </a:pPr>
            <a:r>
              <a:rPr lang="en-US" sz="1200" dirty="0">
                <a:solidFill>
                  <a:srgbClr val="D3D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Boot Actuator</a:t>
            </a:r>
            <a:endParaRPr lang="en-US" sz="1425" dirty="0"/>
          </a:p>
        </p:txBody>
      </p:sp>
      <p:sp>
        <p:nvSpPr>
          <p:cNvPr id="36" name="Text 32"/>
          <p:cNvSpPr/>
          <p:nvPr/>
        </p:nvSpPr>
        <p:spPr>
          <a:xfrm>
            <a:off x="11349930" y="3649712"/>
            <a:ext cx="228600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227"/>
              </a:lnSpc>
              <a:buNone/>
            </a:pPr>
            <a:r>
              <a:rPr lang="en-US" sz="1425" dirty="0">
                <a:solidFill>
                  <a:srgbClr val="8FC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425" dirty="0"/>
          </a:p>
        </p:txBody>
      </p:sp>
      <p:sp>
        <p:nvSpPr>
          <p:cNvPr id="37" name="Text 33"/>
          <p:cNvSpPr/>
          <p:nvPr/>
        </p:nvSpPr>
        <p:spPr>
          <a:xfrm>
            <a:off x="11616630" y="3649712"/>
            <a:ext cx="5515585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227"/>
              </a:lnSpc>
              <a:buNone/>
            </a:pPr>
            <a:r>
              <a:rPr lang="en-US" sz="1425" dirty="0">
                <a:solidFill>
                  <a:srgbClr val="D3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fora de </a:t>
            </a:r>
            <a:pPr algn="l" indent="0" marL="0">
              <a:lnSpc>
                <a:spcPct val="125227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200–204 </a:t>
            </a:r>
            <a:pPr algn="l" indent="0" marL="0">
              <a:lnSpc>
                <a:spcPct val="125227"/>
              </a:lnSpc>
              <a:buNone/>
            </a:pPr>
            <a:r>
              <a:rPr lang="en-US" sz="1425" dirty="0">
                <a:solidFill>
                  <a:srgbClr val="D3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indisponível (Degraded não invalida)</a:t>
            </a:r>
            <a:endParaRPr lang="en-US" sz="1425" dirty="0"/>
          </a:p>
        </p:txBody>
      </p:sp>
      <p:sp>
        <p:nvSpPr>
          <p:cNvPr id="38" name="Text 34"/>
          <p:cNvSpPr/>
          <p:nvPr/>
        </p:nvSpPr>
        <p:spPr>
          <a:xfrm>
            <a:off x="11349930" y="4064496"/>
            <a:ext cx="228600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227"/>
              </a:lnSpc>
              <a:buNone/>
            </a:pPr>
            <a:r>
              <a:rPr lang="en-US" sz="1425" dirty="0">
                <a:solidFill>
                  <a:srgbClr val="8FC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425" dirty="0"/>
          </a:p>
        </p:txBody>
      </p:sp>
      <p:sp>
        <p:nvSpPr>
          <p:cNvPr id="39" name="Text 35"/>
          <p:cNvSpPr/>
          <p:nvPr/>
        </p:nvSpPr>
        <p:spPr>
          <a:xfrm>
            <a:off x="11616630" y="4064496"/>
            <a:ext cx="4453101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227"/>
              </a:lnSpc>
              <a:buNone/>
            </a:pPr>
            <a:r>
              <a:rPr lang="en-US" sz="1425" dirty="0">
                <a:solidFill>
                  <a:srgbClr val="D3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Erros de conexão tratados como indisponibilidade</a:t>
            </a:r>
            <a:endParaRPr lang="en-US" sz="1425" dirty="0"/>
          </a:p>
        </p:txBody>
      </p:sp>
      <p:sp>
        <p:nvSpPr>
          <p:cNvPr id="40" name="Text 36"/>
          <p:cNvSpPr/>
          <p:nvPr/>
        </p:nvSpPr>
        <p:spPr>
          <a:xfrm>
            <a:off x="11349930" y="4479280"/>
            <a:ext cx="228600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227"/>
              </a:lnSpc>
              <a:buNone/>
            </a:pPr>
            <a:r>
              <a:rPr lang="en-US" sz="1425" dirty="0">
                <a:solidFill>
                  <a:srgbClr val="8FC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425" dirty="0"/>
          </a:p>
        </p:txBody>
      </p:sp>
      <p:sp>
        <p:nvSpPr>
          <p:cNvPr id="41" name="Text 37"/>
          <p:cNvSpPr/>
          <p:nvPr/>
        </p:nvSpPr>
        <p:spPr>
          <a:xfrm>
            <a:off x="11616630" y="4479280"/>
            <a:ext cx="4373701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227"/>
              </a:lnSpc>
              <a:buNone/>
            </a:pPr>
            <a:r>
              <a:rPr lang="en-US" sz="1425" dirty="0">
                <a:solidFill>
                  <a:srgbClr val="D3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Restart zera o buffer, sem recuperação de estado</a:t>
            </a:r>
            <a:endParaRPr lang="en-US" sz="14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18021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1D52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HIERARQUIA DE SERVIÇOS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52500" y="1085850"/>
            <a:ext cx="18021300" cy="553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133"/>
              </a:lnSpc>
              <a:buNone/>
            </a:pPr>
            <a:r>
              <a:rPr lang="en-US" sz="3900" b="1" spc="-78" kern="0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Relacionar sem interferir na detecção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52500" y="1829544"/>
            <a:ext cx="16383000" cy="9525"/>
          </a:xfrm>
          <a:prstGeom prst="rect">
            <a:avLst/>
          </a:prstGeom>
          <a:solidFill>
            <a:srgbClr val="DDE4EC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1820019"/>
            <a:ext cx="609600" cy="28575"/>
          </a:xfrm>
          <a:prstGeom prst="rect">
            <a:avLst/>
          </a:prstGeom>
          <a:solidFill>
            <a:srgbClr val="1D5286"/>
          </a:solidFill>
          <a:ln/>
        </p:spPr>
      </p:sp>
      <p:sp>
        <p:nvSpPr>
          <p:cNvPr id="6" name="Shape 4"/>
          <p:cNvSpPr/>
          <p:nvPr/>
        </p:nvSpPr>
        <p:spPr>
          <a:xfrm>
            <a:off x="3621137" y="4410373"/>
            <a:ext cx="1757511" cy="638175"/>
          </a:xfrm>
          <a:prstGeom prst="roundRect">
            <a:avLst>
              <a:gd name="adj" fmla="val 17910"/>
            </a:avLst>
          </a:prstGeom>
          <a:solidFill>
            <a:srgbClr val="0C2A45"/>
          </a:solidFill>
          <a:ln/>
        </p:spPr>
      </p:sp>
      <p:sp>
        <p:nvSpPr>
          <p:cNvPr id="7" name="Text 5"/>
          <p:cNvSpPr/>
          <p:nvPr/>
        </p:nvSpPr>
        <p:spPr>
          <a:xfrm>
            <a:off x="3944987" y="4600873"/>
            <a:ext cx="118601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5" kern="0" dirty="0">
                <a:solidFill>
                  <a:srgbClr val="FFFFFF"/>
                </a:solidFill>
                <a:highlight>
                  <a:srgbClr val="0C2A45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E-TCE </a:t>
            </a:r>
            <a:pPr algn="l" indent="0" marL="0">
              <a:buNone/>
            </a:pPr>
            <a:r>
              <a:rPr lang="en-US" sz="1125" spc="75" kern="0" dirty="0">
                <a:solidFill>
                  <a:srgbClr val="8FC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490442" y="5048548"/>
            <a:ext cx="19050" cy="323850"/>
          </a:xfrm>
          <a:prstGeom prst="rect">
            <a:avLst/>
          </a:prstGeom>
          <a:solidFill>
            <a:srgbClr val="C6D0DB"/>
          </a:solidFill>
          <a:ln/>
        </p:spPr>
      </p:sp>
      <p:sp>
        <p:nvSpPr>
          <p:cNvPr id="9" name="Shape 7"/>
          <p:cNvSpPr/>
          <p:nvPr/>
        </p:nvSpPr>
        <p:spPr>
          <a:xfrm>
            <a:off x="3290739" y="5372398"/>
            <a:ext cx="2418308" cy="19050"/>
          </a:xfrm>
          <a:prstGeom prst="rect">
            <a:avLst/>
          </a:prstGeom>
          <a:solidFill>
            <a:srgbClr val="C6D0DB"/>
          </a:solidFill>
          <a:ln/>
        </p:spPr>
      </p:sp>
      <p:sp>
        <p:nvSpPr>
          <p:cNvPr id="10" name="Shape 8"/>
          <p:cNvSpPr/>
          <p:nvPr/>
        </p:nvSpPr>
        <p:spPr>
          <a:xfrm>
            <a:off x="2908995" y="5696248"/>
            <a:ext cx="895499" cy="542925"/>
          </a:xfrm>
          <a:prstGeom prst="roundRect">
            <a:avLst>
              <a:gd name="adj" fmla="val 17544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28070" y="5858173"/>
            <a:ext cx="53354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52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CPRO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25552" y="6296323"/>
            <a:ext cx="33858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filho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052143" y="5696248"/>
            <a:ext cx="895499" cy="542925"/>
          </a:xfrm>
          <a:prstGeom prst="roundRect">
            <a:avLst>
              <a:gd name="adj" fmla="val 17544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71218" y="5858173"/>
            <a:ext cx="53354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52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PSRV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68701" y="6296323"/>
            <a:ext cx="33858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filho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195292" y="5696248"/>
            <a:ext cx="895499" cy="542925"/>
          </a:xfrm>
          <a:prstGeom prst="roundRect">
            <a:avLst>
              <a:gd name="adj" fmla="val 17544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14367" y="5858173"/>
            <a:ext cx="53354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52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SGSP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511850" y="6296323"/>
            <a:ext cx="33858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filho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832140" y="6753523"/>
            <a:ext cx="333565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3333"/>
              </a:lnSpc>
              <a:buNone/>
            </a:pPr>
            <a:r>
              <a:rPr lang="en-US" sz="1200" dirty="0">
                <a:solidFill>
                  <a:srgbClr val="6B7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limite de níveis; um serviço pode ter </a:t>
            </a:r>
            <a:pPr algn="ctr" indent="0" marL="0">
              <a:lnSpc>
                <a:spcPct val="133333"/>
              </a:lnSpc>
              <a:buNone/>
            </a:pPr>
            <a:r>
              <a:rPr lang="en-US" sz="1200" b="1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múltiplos pais</a:t>
            </a:r>
            <a:pPr algn="ctr" indent="0" marL="0">
              <a:lnSpc>
                <a:spcPct val="133333"/>
              </a:lnSpc>
              <a:buNone/>
            </a:pPr>
            <a:r>
              <a:rPr lang="en-US" sz="1200" dirty="0">
                <a:solidFill>
                  <a:srgbClr val="6B7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466534" y="3899892"/>
            <a:ext cx="8868966" cy="1062484"/>
          </a:xfrm>
          <a:prstGeom prst="roundRect">
            <a:avLst>
              <a:gd name="adj" fmla="val 10758"/>
            </a:avLst>
          </a:prstGeom>
          <a:solidFill>
            <a:srgbClr val="FFFFFF"/>
          </a:solidFill>
          <a:ln w="9525">
            <a:solidFill>
              <a:srgbClr val="E4E9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42759" y="4138017"/>
            <a:ext cx="914816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independente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8742759" y="4461867"/>
            <a:ext cx="9148167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227"/>
              </a:lnSpc>
              <a:buNone/>
            </a:pPr>
            <a:r>
              <a:rPr lang="en-US" sz="1425" dirty="0">
                <a:solidFill>
                  <a:srgbClr val="41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serviço segue o fluxo do buffer isoladamente — a hierarquia não interfere na detecção.</a:t>
            </a:r>
            <a:endParaRPr lang="en-US" sz="1425" dirty="0"/>
          </a:p>
        </p:txBody>
      </p:sp>
      <p:sp>
        <p:nvSpPr>
          <p:cNvPr id="23" name="Shape 21"/>
          <p:cNvSpPr/>
          <p:nvPr/>
        </p:nvSpPr>
        <p:spPr>
          <a:xfrm>
            <a:off x="8466534" y="5152876"/>
            <a:ext cx="8868966" cy="1062484"/>
          </a:xfrm>
          <a:prstGeom prst="roundRect">
            <a:avLst>
              <a:gd name="adj" fmla="val 10758"/>
            </a:avLst>
          </a:prstGeom>
          <a:solidFill>
            <a:srgbClr val="FFFFFF"/>
          </a:solidFill>
          <a:ln w="9525">
            <a:solidFill>
              <a:srgbClr val="E4E9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42759" y="5391001"/>
            <a:ext cx="914816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do usuário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8742759" y="5714851"/>
            <a:ext cx="9148167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227"/>
              </a:lnSpc>
              <a:buNone/>
            </a:pPr>
            <a:r>
              <a:rPr lang="en-US" sz="1425" dirty="0">
                <a:solidFill>
                  <a:srgbClr val="41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Exibe apenas o sistema acessado pelo cidadão, sem informações hierárquicas.</a:t>
            </a:r>
            <a:endParaRPr lang="en-US" sz="1425" dirty="0"/>
          </a:p>
        </p:txBody>
      </p:sp>
      <p:sp>
        <p:nvSpPr>
          <p:cNvPr id="26" name="Shape 24"/>
          <p:cNvSpPr/>
          <p:nvPr/>
        </p:nvSpPr>
        <p:spPr>
          <a:xfrm>
            <a:off x="8466534" y="6405860"/>
            <a:ext cx="8868966" cy="1324868"/>
          </a:xfrm>
          <a:prstGeom prst="roundRect">
            <a:avLst>
              <a:gd name="adj" fmla="val 8627"/>
            </a:avLst>
          </a:prstGeom>
          <a:solidFill>
            <a:srgbClr val="FFFFFF"/>
          </a:solidFill>
          <a:ln w="9525">
            <a:solidFill>
              <a:srgbClr val="E4E9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42759" y="6643985"/>
            <a:ext cx="914816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do administrador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8742759" y="6967835"/>
            <a:ext cx="8566011" cy="56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227"/>
              </a:lnSpc>
              <a:buNone/>
            </a:pPr>
            <a:r>
              <a:rPr lang="en-US" sz="1425" dirty="0">
                <a:solidFill>
                  <a:srgbClr val="41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Exibe todos os serviços com indisponibilidade no dia e a relação entre eles — mesmo em horários distintos.</a:t>
            </a:r>
            <a:endParaRPr lang="en-US" sz="14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18021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1D52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RELATÓRIOS DE INDISPONIBILIDADE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52500" y="1085850"/>
            <a:ext cx="18021300" cy="553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133"/>
              </a:lnSpc>
              <a:buNone/>
            </a:pPr>
            <a:r>
              <a:rPr lang="en-US" sz="3900" b="1" spc="-78" kern="0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tipos, um formato autenticável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52500" y="1829544"/>
            <a:ext cx="16383000" cy="9525"/>
          </a:xfrm>
          <a:prstGeom prst="rect">
            <a:avLst/>
          </a:prstGeom>
          <a:solidFill>
            <a:srgbClr val="DDE4EC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1820019"/>
            <a:ext cx="609600" cy="28575"/>
          </a:xfrm>
          <a:prstGeom prst="rect">
            <a:avLst/>
          </a:prstGeom>
          <a:solidFill>
            <a:srgbClr val="1D5286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2124819"/>
            <a:ext cx="8039100" cy="7362081"/>
          </a:xfrm>
          <a:prstGeom prst="roundRect">
            <a:avLst>
              <a:gd name="adj" fmla="val 1811"/>
            </a:avLst>
          </a:prstGeom>
          <a:solidFill>
            <a:srgbClr val="FFFFFF"/>
          </a:solidFill>
          <a:ln w="9525">
            <a:solidFill>
              <a:srgbClr val="E4E9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04925" y="2458194"/>
            <a:ext cx="476250" cy="476250"/>
          </a:xfrm>
          <a:prstGeom prst="roundRect">
            <a:avLst>
              <a:gd name="adj" fmla="val 22000"/>
            </a:avLst>
          </a:prstGeom>
          <a:solidFill>
            <a:srgbClr val="E8EF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19225" y="2572494"/>
            <a:ext cx="247650" cy="2476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33575" y="2548682"/>
            <a:ext cx="246843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por Limiar</a:t>
            </a:r>
            <a:endParaRPr lang="en-US" sz="2025" dirty="0"/>
          </a:p>
        </p:txBody>
      </p:sp>
      <p:sp>
        <p:nvSpPr>
          <p:cNvPr id="10" name="Shape 7"/>
          <p:cNvSpPr/>
          <p:nvPr/>
        </p:nvSpPr>
        <p:spPr>
          <a:xfrm>
            <a:off x="1304925" y="3067794"/>
            <a:ext cx="1685925" cy="276225"/>
          </a:xfrm>
          <a:prstGeom prst="roundRect">
            <a:avLst>
              <a:gd name="adj" fmla="val 20690"/>
            </a:avLst>
          </a:prstGeom>
          <a:solidFill>
            <a:srgbClr val="E6F1EB"/>
          </a:solidFill>
          <a:ln/>
        </p:spPr>
      </p:sp>
      <p:sp>
        <p:nvSpPr>
          <p:cNvPr id="11" name="Text 8"/>
          <p:cNvSpPr/>
          <p:nvPr/>
        </p:nvSpPr>
        <p:spPr>
          <a:xfrm>
            <a:off x="1419225" y="3115419"/>
            <a:ext cx="153352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PÚBLICO · CIDADÃO</a:t>
            </a:r>
            <a:endParaRPr lang="en-US" sz="1125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04925" y="3544044"/>
            <a:ext cx="171450" cy="1714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90675" y="3515469"/>
            <a:ext cx="577113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1500" dirty="0">
                <a:solidFill>
                  <a:srgbClr val="334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Gerado à meia-noite (configurável), disponível via Portal (d-1)</a:t>
            </a:r>
            <a:endParaRPr lang="en-US" sz="15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04925" y="3915519"/>
            <a:ext cx="171450" cy="1714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90675" y="3886944"/>
            <a:ext cx="59639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1500" dirty="0">
                <a:solidFill>
                  <a:srgbClr val="334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com </a:t>
            </a:r>
            <a:pPr algn="l" indent="0" marL="0">
              <a:lnSpc>
                <a:spcPct val="117391"/>
              </a:lnSpc>
              <a:buNone/>
            </a:pPr>
            <a:r>
              <a:rPr lang="en-US" sz="1500" b="1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120 min </a:t>
            </a:r>
            <a:pPr algn="l" indent="0" marL="0">
              <a:lnSpc>
                <a:spcPct val="117391"/>
              </a:lnSpc>
              <a:buNone/>
            </a:pPr>
            <a:r>
              <a:rPr lang="en-US" sz="1500" dirty="0">
                <a:solidFill>
                  <a:srgbClr val="334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acumulados no dia (soma de períodos)</a:t>
            </a:r>
            <a:endParaRPr lang="en-US" sz="15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04925" y="4296519"/>
            <a:ext cx="171450" cy="1714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90675" y="4267944"/>
            <a:ext cx="36404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1500" dirty="0">
                <a:solidFill>
                  <a:srgbClr val="334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Assinado digitalmente pelo Diretor DTI</a:t>
            </a:r>
            <a:endParaRPr lang="en-US" sz="15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04925" y="4667994"/>
            <a:ext cx="171450" cy="17145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90675" y="4639419"/>
            <a:ext cx="49295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1500" b="1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 </a:t>
            </a:r>
            <a:pPr algn="l" indent="0" marL="0">
              <a:lnSpc>
                <a:spcPct val="117391"/>
              </a:lnSpc>
              <a:buNone/>
            </a:pPr>
            <a:r>
              <a:rPr lang="en-US" sz="1500" dirty="0">
                <a:solidFill>
                  <a:srgbClr val="334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código verificador + código do usuário</a:t>
            </a:r>
            <a:endParaRPr lang="en-US" sz="15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04925" y="5048994"/>
            <a:ext cx="171450" cy="17145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590675" y="5020419"/>
            <a:ext cx="386832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1500" dirty="0">
                <a:solidFill>
                  <a:srgbClr val="334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em PDF disponível na consulta</a:t>
            </a:r>
            <a:endParaRPr lang="en-US" sz="1500" dirty="0"/>
          </a:p>
        </p:txBody>
      </p:sp>
      <p:sp>
        <p:nvSpPr>
          <p:cNvPr id="22" name="Shape 14"/>
          <p:cNvSpPr/>
          <p:nvPr/>
        </p:nvSpPr>
        <p:spPr>
          <a:xfrm>
            <a:off x="9296400" y="2124819"/>
            <a:ext cx="8039100" cy="7362081"/>
          </a:xfrm>
          <a:prstGeom prst="roundRect">
            <a:avLst>
              <a:gd name="adj" fmla="val 1811"/>
            </a:avLst>
          </a:prstGeom>
          <a:solidFill>
            <a:srgbClr val="FFFFFF"/>
          </a:solidFill>
          <a:ln w="9525">
            <a:solidFill>
              <a:srgbClr val="E4E9EF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9648825" y="2458194"/>
            <a:ext cx="476250" cy="476250"/>
          </a:xfrm>
          <a:prstGeom prst="roundRect">
            <a:avLst>
              <a:gd name="adj" fmla="val 22000"/>
            </a:avLst>
          </a:prstGeom>
          <a:solidFill>
            <a:srgbClr val="EEF2F6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763125" y="2572494"/>
            <a:ext cx="247650" cy="24765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0277475" y="2548682"/>
            <a:ext cx="320775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Diário do Admin</a:t>
            </a:r>
            <a:endParaRPr lang="en-US" sz="2025" dirty="0"/>
          </a:p>
        </p:txBody>
      </p:sp>
      <p:sp>
        <p:nvSpPr>
          <p:cNvPr id="26" name="Shape 17"/>
          <p:cNvSpPr/>
          <p:nvPr/>
        </p:nvSpPr>
        <p:spPr>
          <a:xfrm>
            <a:off x="9648825" y="3067794"/>
            <a:ext cx="2200275" cy="276225"/>
          </a:xfrm>
          <a:prstGeom prst="roundRect">
            <a:avLst>
              <a:gd name="adj" fmla="val 20690"/>
            </a:avLst>
          </a:prstGeom>
          <a:solidFill>
            <a:srgbClr val="EEF2F6"/>
          </a:solidFill>
          <a:ln/>
        </p:spPr>
      </p:sp>
      <p:sp>
        <p:nvSpPr>
          <p:cNvPr id="27" name="Text 18"/>
          <p:cNvSpPr/>
          <p:nvPr/>
        </p:nvSpPr>
        <p:spPr>
          <a:xfrm>
            <a:off x="9763125" y="3115419"/>
            <a:ext cx="20478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41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INTERNO · ADMINISTRADOR</a:t>
            </a:r>
            <a:endParaRPr lang="en-US" sz="1125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648825" y="3544044"/>
            <a:ext cx="171450" cy="17145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9934575" y="3515469"/>
            <a:ext cx="53278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1500" dirty="0">
                <a:solidFill>
                  <a:srgbClr val="334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Gerado à meia-noite (configurável); parcial sob demanda</a:t>
            </a:r>
            <a:endParaRPr lang="en-US" sz="150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648825" y="3915519"/>
            <a:ext cx="171450" cy="17145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9934575" y="3886944"/>
            <a:ext cx="49777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1500" b="1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filtro de limiar </a:t>
            </a:r>
            <a:pPr algn="l" indent="0" marL="0">
              <a:lnSpc>
                <a:spcPct val="117391"/>
              </a:lnSpc>
              <a:buNone/>
            </a:pPr>
            <a:r>
              <a:rPr lang="en-US" sz="1500" dirty="0">
                <a:solidFill>
                  <a:srgbClr val="334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inclui qualquer tempo de queda</a:t>
            </a:r>
            <a:endParaRPr lang="en-US" sz="150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648825" y="4296519"/>
            <a:ext cx="171450" cy="17145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9934575" y="4267944"/>
            <a:ext cx="394772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1500" dirty="0">
                <a:solidFill>
                  <a:srgbClr val="334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Exibe a </a:t>
            </a:r>
            <a:pPr algn="l" indent="0" marL="0">
              <a:lnSpc>
                <a:spcPct val="117391"/>
              </a:lnSpc>
              <a:buNone/>
            </a:pPr>
            <a:r>
              <a:rPr lang="en-US" sz="1500" b="1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relação hierárquica </a:t>
            </a:r>
            <a:pPr algn="l" indent="0" marL="0">
              <a:lnSpc>
                <a:spcPct val="117391"/>
              </a:lnSpc>
              <a:buNone/>
            </a:pPr>
            <a:r>
              <a:rPr lang="en-US" sz="1500" dirty="0">
                <a:solidFill>
                  <a:srgbClr val="334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sistemas</a:t>
            </a:r>
            <a:endParaRPr lang="en-US" sz="1500" dirty="0"/>
          </a:p>
        </p:txBody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648825" y="4677519"/>
            <a:ext cx="171450" cy="171450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9934575" y="4648944"/>
            <a:ext cx="36404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1500" dirty="0">
                <a:solidFill>
                  <a:srgbClr val="334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Assinado digitalmente pelo Diretor DTI</a:t>
            </a:r>
            <a:endParaRPr lang="en-US" sz="1500" dirty="0"/>
          </a:p>
        </p:txBody>
      </p:sp>
      <p:pic>
        <p:nvPicPr>
          <p:cNvPr id="36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648825" y="5048994"/>
            <a:ext cx="171450" cy="171450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9934575" y="5020419"/>
            <a:ext cx="42862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1500" dirty="0">
                <a:solidFill>
                  <a:srgbClr val="334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QR Code — uso interno do Administrador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18021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1D52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 E AUTENTICAÇÃO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52500" y="1085850"/>
            <a:ext cx="18021300" cy="553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133"/>
              </a:lnSpc>
              <a:buNone/>
            </a:pPr>
            <a:r>
              <a:rPr lang="en-US" sz="3900" b="1" spc="-78" kern="0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Acessar, baixar e validar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52500" y="1848594"/>
            <a:ext cx="16383000" cy="9525"/>
          </a:xfrm>
          <a:prstGeom prst="rect">
            <a:avLst/>
          </a:prstGeom>
          <a:solidFill>
            <a:srgbClr val="DDE4EC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1839069"/>
            <a:ext cx="609600" cy="28575"/>
          </a:xfrm>
          <a:prstGeom prst="rect">
            <a:avLst/>
          </a:prstGeom>
          <a:solidFill>
            <a:srgbClr val="1D5286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2220069"/>
            <a:ext cx="5270450" cy="7266831"/>
          </a:xfrm>
          <a:prstGeom prst="roundRect">
            <a:avLst>
              <a:gd name="adj" fmla="val 2530"/>
            </a:avLst>
          </a:prstGeom>
          <a:solidFill>
            <a:srgbClr val="FFFFFF"/>
          </a:solidFill>
          <a:ln w="9525">
            <a:solidFill>
              <a:srgbClr val="E4E9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5875" y="2572494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E8EF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19225" y="2705844"/>
            <a:ext cx="26670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5875" y="3334494"/>
            <a:ext cx="50640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por Data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285875" y="3782169"/>
            <a:ext cx="50640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41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Disponível a partir do </a:t>
            </a:r>
            <a:pPr algn="l" indent="0" marL="0">
              <a:lnSpc>
                <a:spcPct val="121739"/>
              </a:lnSpc>
              <a:buNone/>
            </a:pPr>
            <a:r>
              <a:rPr lang="en-US" sz="1500" b="1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d-1</a:t>
            </a:r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41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qualquer data histórica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285875" y="4163169"/>
            <a:ext cx="50640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41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 de data + botão Consultar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85875" y="4544169"/>
            <a:ext cx="474181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41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exibe todos os sistemas com indisponibilidade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508700" y="2220069"/>
            <a:ext cx="5270450" cy="7266831"/>
          </a:xfrm>
          <a:prstGeom prst="roundRect">
            <a:avLst>
              <a:gd name="adj" fmla="val 2530"/>
            </a:avLst>
          </a:prstGeom>
          <a:solidFill>
            <a:srgbClr val="FFFFFF"/>
          </a:solidFill>
          <a:ln w="9525">
            <a:solidFill>
              <a:srgbClr val="E4E9E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42075" y="2572494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F6EEE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75425" y="2705844"/>
            <a:ext cx="266700" cy="2667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842075" y="3334494"/>
            <a:ext cx="50640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em PDF</a:t>
            </a:r>
            <a:endParaRPr lang="en-US" sz="1950" dirty="0"/>
          </a:p>
        </p:txBody>
      </p:sp>
      <p:sp>
        <p:nvSpPr>
          <p:cNvPr id="17" name="Text 13"/>
          <p:cNvSpPr/>
          <p:nvPr/>
        </p:nvSpPr>
        <p:spPr>
          <a:xfrm>
            <a:off x="6842075" y="3782169"/>
            <a:ext cx="50640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b="1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Baixar PDF </a:t>
            </a:r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41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relatórios d-1 concluídos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842075" y="4163169"/>
            <a:ext cx="50640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b="1" dirty="0">
                <a:solidFill>
                  <a:srgbClr val="B76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Baixar Parcial </a:t>
            </a:r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41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(laranja) para o dia atual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842075" y="4544169"/>
            <a:ext cx="50640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41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 idêntico ao relatório oficial do TCE-MG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12064901" y="2220069"/>
            <a:ext cx="5270450" cy="7266831"/>
          </a:xfrm>
          <a:prstGeom prst="roundRect">
            <a:avLst>
              <a:gd name="adj" fmla="val 2530"/>
            </a:avLst>
          </a:prstGeom>
          <a:solidFill>
            <a:srgbClr val="0C2A45"/>
          </a:solidFill>
          <a:ln/>
        </p:spPr>
      </p:sp>
      <p:sp>
        <p:nvSpPr>
          <p:cNvPr id="21" name="Shape 17"/>
          <p:cNvSpPr/>
          <p:nvPr/>
        </p:nvSpPr>
        <p:spPr>
          <a:xfrm>
            <a:off x="12388751" y="2562969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4E86BF">
              <a:alpha val="18000"/>
            </a:srgbClr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22101" y="2696319"/>
            <a:ext cx="266700" cy="2667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2388751" y="3324969"/>
            <a:ext cx="50850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Autenticação</a:t>
            </a:r>
            <a:endParaRPr lang="en-US" sz="1950" dirty="0"/>
          </a:p>
        </p:txBody>
      </p:sp>
      <p:sp>
        <p:nvSpPr>
          <p:cNvPr id="24" name="Text 19"/>
          <p:cNvSpPr/>
          <p:nvPr/>
        </p:nvSpPr>
        <p:spPr>
          <a:xfrm>
            <a:off x="12388751" y="3772644"/>
            <a:ext cx="50850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C4D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 na página de relatórios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2388751" y="4153644"/>
            <a:ext cx="476143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C4D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 </a:t>
            </a:r>
            <a:pPr algn="l" indent="0" marL="0">
              <a:lnSpc>
                <a:spcPct val="121739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verificador </a:t>
            </a:r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C4D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(por relatório) + </a:t>
            </a:r>
            <a:pPr algn="l" indent="0" marL="0">
              <a:lnSpc>
                <a:spcPct val="121739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do usuário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2388751" y="4801344"/>
            <a:ext cx="476143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C4D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localiza e exibe o relatório original para validação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gradFill rotWithShape="1">
            <a:gsLst>
              <a:gs pos="0">
                <a:srgbClr val="1D5286">
                  <a:alpha val="100000"/>
                </a:srgbClr>
              </a:gs>
              <a:gs pos="100000">
                <a:srgbClr val="4E86BF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14859000" y="8039100"/>
            <a:ext cx="2766060" cy="171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683"/>
              </a:lnSpc>
              <a:buNone/>
            </a:pPr>
            <a:r>
              <a:rPr lang="en-US" sz="16500" dirty="0">
                <a:ln w="19050">
                  <a:solidFill>
                    <a:srgbClr val="78A0C8"/>
                  </a:solidFill>
                </a:ln>
                <a:solidFill>
                  <a:srgbClr val="000000">
                    <a:alpha val="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500" dirty="0"/>
          </a:p>
        </p:txBody>
      </p:sp>
      <p:sp>
        <p:nvSpPr>
          <p:cNvPr id="4" name="Text 2"/>
          <p:cNvSpPr/>
          <p:nvPr/>
        </p:nvSpPr>
        <p:spPr>
          <a:xfrm>
            <a:off x="1047750" y="3550444"/>
            <a:ext cx="178117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450" kern="0" dirty="0">
                <a:solidFill>
                  <a:srgbClr val="4E8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02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47750" y="3998119"/>
            <a:ext cx="11282363" cy="1747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600" b="1" spc="-16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Integrações e Restrições Técnicas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1047750" y="5993606"/>
            <a:ext cx="882967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B9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Dependências externas confirmadas e padrões de healthcheck aprovados pela Equipe de Arquitetura.</a:t>
            </a:r>
            <a:endParaRPr lang="en-US" sz="1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18021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1D52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INTEGRAÇÕES E PADRÕES TÉCNICOS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52500" y="1085850"/>
            <a:ext cx="18021300" cy="553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133"/>
              </a:lnSpc>
              <a:buNone/>
            </a:pPr>
            <a:r>
              <a:rPr lang="en-US" sz="3900" b="1" spc="-78" kern="0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sistema consome e adota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52500" y="1829544"/>
            <a:ext cx="16383000" cy="9525"/>
          </a:xfrm>
          <a:prstGeom prst="rect">
            <a:avLst/>
          </a:prstGeom>
          <a:solidFill>
            <a:srgbClr val="DDE4EC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1820019"/>
            <a:ext cx="609600" cy="28575"/>
          </a:xfrm>
          <a:prstGeom prst="rect">
            <a:avLst/>
          </a:prstGeom>
          <a:solidFill>
            <a:srgbClr val="1D5286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2143869"/>
            <a:ext cx="5321201" cy="3566666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9525">
            <a:solidFill>
              <a:srgbClr val="E4E9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28725" y="2401044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3975" y="2496294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1175" y="2486769"/>
            <a:ext cx="187056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de Serviços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228725" y="2934444"/>
            <a:ext cx="4911813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350" dirty="0">
                <a:solidFill>
                  <a:srgbClr val="41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Fornece a lista de sistemas via endpoint externo e é o canal de exibição dos relatórios ao cidadão.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83251" y="2143869"/>
            <a:ext cx="5321350" cy="3566666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9525">
            <a:solidFill>
              <a:srgbClr val="E4E9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759476" y="2401044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4726" y="2496294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11926" y="2486769"/>
            <a:ext cx="23959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 — Single Sign-On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6759476" y="2934444"/>
            <a:ext cx="4911967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350" dirty="0">
                <a:solidFill>
                  <a:srgbClr val="41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Autenticação e autorização. A claim </a:t>
            </a:r>
            <a:pPr algn="l" indent="0" marL="0">
              <a:lnSpc>
                <a:spcPct val="124286"/>
              </a:lnSpc>
              <a:buNone/>
            </a:pPr>
            <a:r>
              <a:rPr lang="en-US" sz="1125" dirty="0">
                <a:solidFill>
                  <a:srgbClr val="41546A"/>
                </a:solidFill>
                <a:highlight>
                  <a:srgbClr val="EEF2F6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listaGruposSistema = PRT_SRV_ADMINISTRADORES </a:t>
            </a:r>
            <a:pPr algn="l" indent="0" marL="0">
              <a:lnSpc>
                <a:spcPct val="124286"/>
              </a:lnSpc>
              <a:buNone/>
            </a:pPr>
            <a:r>
              <a:rPr lang="en-US" sz="1350" dirty="0">
                <a:solidFill>
                  <a:srgbClr val="41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 o Administrador.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12014150" y="2143869"/>
            <a:ext cx="5321350" cy="3566666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9525">
            <a:solidFill>
              <a:srgbClr val="E4E9E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2290375" y="2401044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85625" y="2496294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42825" y="2486769"/>
            <a:ext cx="135388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SIGESP / AD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12290375" y="2934444"/>
            <a:ext cx="4911967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350" dirty="0">
                <a:solidFill>
                  <a:srgbClr val="41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Usuários internos (Administradores) autenticados via Active Directory do Tribunal.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952500" y="5920085"/>
            <a:ext cx="5321201" cy="3566815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9525">
            <a:solidFill>
              <a:srgbClr val="E4E9E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1228725" y="617726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23975" y="6272510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781175" y="6262985"/>
            <a:ext cx="185779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 do Tribunal</a:t>
            </a:r>
            <a:endParaRPr lang="en-US" sz="1650" dirty="0"/>
          </a:p>
        </p:txBody>
      </p:sp>
      <p:sp>
        <p:nvSpPr>
          <p:cNvPr id="25" name="Text 19"/>
          <p:cNvSpPr/>
          <p:nvPr/>
        </p:nvSpPr>
        <p:spPr>
          <a:xfrm>
            <a:off x="1228725" y="6710660"/>
            <a:ext cx="4911813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350" dirty="0">
                <a:solidFill>
                  <a:srgbClr val="41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de indisponibilidade enviados aos Administradores via relay interno.</a:t>
            </a:r>
            <a:endParaRPr lang="en-US" sz="1350" dirty="0"/>
          </a:p>
        </p:txBody>
      </p:sp>
      <p:sp>
        <p:nvSpPr>
          <p:cNvPr id="26" name="Shape 20"/>
          <p:cNvSpPr/>
          <p:nvPr/>
        </p:nvSpPr>
        <p:spPr>
          <a:xfrm>
            <a:off x="6483251" y="5920085"/>
            <a:ext cx="5321350" cy="3566815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/>
        </p:spPr>
      </p:sp>
      <p:sp>
        <p:nvSpPr>
          <p:cNvPr id="27" name="Shape 21"/>
          <p:cNvSpPr/>
          <p:nvPr/>
        </p:nvSpPr>
        <p:spPr>
          <a:xfrm>
            <a:off x="6483251" y="9477375"/>
            <a:ext cx="5321350" cy="9525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28" name="Shape 22"/>
          <p:cNvSpPr/>
          <p:nvPr/>
        </p:nvSpPr>
        <p:spPr>
          <a:xfrm>
            <a:off x="6483251" y="5920085"/>
            <a:ext cx="5321350" cy="9525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29" name="Shape 23"/>
          <p:cNvSpPr/>
          <p:nvPr/>
        </p:nvSpPr>
        <p:spPr>
          <a:xfrm>
            <a:off x="6483251" y="5920085"/>
            <a:ext cx="38100" cy="3566815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30" name="Shape 24"/>
          <p:cNvSpPr/>
          <p:nvPr/>
        </p:nvSpPr>
        <p:spPr>
          <a:xfrm>
            <a:off x="11795075" y="5920085"/>
            <a:ext cx="9525" cy="3566815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31" name="Shape 25"/>
          <p:cNvSpPr/>
          <p:nvPr/>
        </p:nvSpPr>
        <p:spPr>
          <a:xfrm>
            <a:off x="6788051" y="617726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6F1EB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83301" y="6272510"/>
            <a:ext cx="228600" cy="2286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340501" y="6262985"/>
            <a:ext cx="201986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.NET HealthChecks</a:t>
            </a:r>
            <a:endParaRPr lang="en-US" sz="1650" dirty="0"/>
          </a:p>
        </p:txBody>
      </p:sp>
      <p:sp>
        <p:nvSpPr>
          <p:cNvPr id="34" name="Text 27"/>
          <p:cNvSpPr/>
          <p:nvPr/>
        </p:nvSpPr>
        <p:spPr>
          <a:xfrm>
            <a:off x="6788051" y="6710660"/>
            <a:ext cx="4882534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050" dirty="0">
                <a:solidFill>
                  <a:srgbClr val="41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Microsoft.Extensions.Diagnostics.HealthChecks </a:t>
            </a:r>
            <a:pPr algn="l" indent="0" marL="0">
              <a:lnSpc>
                <a:spcPct val="124286"/>
              </a:lnSpc>
              <a:buNone/>
            </a:pPr>
            <a:r>
              <a:rPr lang="en-US" sz="1350" dirty="0">
                <a:solidFill>
                  <a:srgbClr val="41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aprovado pela Arquitetura.</a:t>
            </a:r>
            <a:endParaRPr lang="en-US" sz="1350" dirty="0"/>
          </a:p>
        </p:txBody>
      </p:sp>
      <p:sp>
        <p:nvSpPr>
          <p:cNvPr id="35" name="Shape 28"/>
          <p:cNvSpPr/>
          <p:nvPr/>
        </p:nvSpPr>
        <p:spPr>
          <a:xfrm>
            <a:off x="12014150" y="5920085"/>
            <a:ext cx="5321350" cy="3566815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/>
        </p:spPr>
      </p:sp>
      <p:sp>
        <p:nvSpPr>
          <p:cNvPr id="36" name="Shape 29"/>
          <p:cNvSpPr/>
          <p:nvPr/>
        </p:nvSpPr>
        <p:spPr>
          <a:xfrm>
            <a:off x="12014150" y="9477375"/>
            <a:ext cx="5321350" cy="9525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37" name="Shape 30"/>
          <p:cNvSpPr/>
          <p:nvPr/>
        </p:nvSpPr>
        <p:spPr>
          <a:xfrm>
            <a:off x="12014150" y="5920085"/>
            <a:ext cx="5321350" cy="9525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38" name="Shape 31"/>
          <p:cNvSpPr/>
          <p:nvPr/>
        </p:nvSpPr>
        <p:spPr>
          <a:xfrm>
            <a:off x="12014150" y="5920085"/>
            <a:ext cx="38100" cy="3566815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39" name="Shape 32"/>
          <p:cNvSpPr/>
          <p:nvPr/>
        </p:nvSpPr>
        <p:spPr>
          <a:xfrm>
            <a:off x="17325975" y="5920085"/>
            <a:ext cx="9525" cy="3566815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40" name="Shape 33"/>
          <p:cNvSpPr/>
          <p:nvPr/>
        </p:nvSpPr>
        <p:spPr>
          <a:xfrm>
            <a:off x="12318950" y="617726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6F1EB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414200" y="6272510"/>
            <a:ext cx="228600" cy="22860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12871400" y="6262985"/>
            <a:ext cx="21143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Actuator</a:t>
            </a:r>
            <a:endParaRPr lang="en-US" sz="1650" dirty="0"/>
          </a:p>
        </p:txBody>
      </p:sp>
      <p:sp>
        <p:nvSpPr>
          <p:cNvPr id="43" name="Text 35"/>
          <p:cNvSpPr/>
          <p:nvPr/>
        </p:nvSpPr>
        <p:spPr>
          <a:xfrm>
            <a:off x="12318950" y="6710660"/>
            <a:ext cx="4882534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350" dirty="0">
                <a:solidFill>
                  <a:srgbClr val="41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</a:t>
            </a:r>
            <a:pPr algn="l" indent="0" marL="0">
              <a:lnSpc>
                <a:spcPct val="124286"/>
              </a:lnSpc>
              <a:buNone/>
            </a:pPr>
            <a:r>
              <a:rPr lang="en-US" sz="1125" dirty="0">
                <a:solidFill>
                  <a:srgbClr val="41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/actuator/health </a:t>
            </a:r>
            <a:pPr algn="l" indent="0" marL="0">
              <a:lnSpc>
                <a:spcPct val="124286"/>
              </a:lnSpc>
              <a:buNone/>
            </a:pPr>
            <a:r>
              <a:rPr lang="en-US" sz="1350" dirty="0">
                <a:solidFill>
                  <a:srgbClr val="41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apps Java — aprovado pela Arquitetura.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18021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B76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HIPÓTESES PENDENTES DE VALIDAÇÃO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52500" y="1085850"/>
            <a:ext cx="18021300" cy="553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133"/>
              </a:lnSpc>
              <a:buNone/>
            </a:pPr>
            <a:r>
              <a:rPr lang="en-US" sz="3900" b="1" spc="-78" kern="0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pontos a confirmar antes do desenvolvimento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52500" y="1848594"/>
            <a:ext cx="16383000" cy="9525"/>
          </a:xfrm>
          <a:prstGeom prst="rect">
            <a:avLst/>
          </a:prstGeom>
          <a:solidFill>
            <a:srgbClr val="DDE4EC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1839069"/>
            <a:ext cx="609600" cy="28575"/>
          </a:xfrm>
          <a:prstGeom prst="rect">
            <a:avLst/>
          </a:prstGeom>
          <a:solidFill>
            <a:srgbClr val="B76F27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2220069"/>
            <a:ext cx="5270450" cy="7266831"/>
          </a:xfrm>
          <a:prstGeom prst="roundRect">
            <a:avLst>
              <a:gd name="adj" fmla="val 2530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52500" y="9477375"/>
            <a:ext cx="5270450" cy="9525"/>
          </a:xfrm>
          <a:prstGeom prst="rect">
            <a:avLst/>
          </a:prstGeom>
          <a:solidFill>
            <a:srgbClr val="EADFCB"/>
          </a:solidFill>
          <a:ln/>
        </p:spPr>
      </p:sp>
      <p:sp>
        <p:nvSpPr>
          <p:cNvPr id="8" name="Shape 6"/>
          <p:cNvSpPr/>
          <p:nvPr/>
        </p:nvSpPr>
        <p:spPr>
          <a:xfrm>
            <a:off x="952500" y="2220069"/>
            <a:ext cx="5270450" cy="38100"/>
          </a:xfrm>
          <a:prstGeom prst="rect">
            <a:avLst/>
          </a:prstGeom>
          <a:solidFill>
            <a:srgbClr val="B76F27"/>
          </a:solidFill>
          <a:ln/>
        </p:spPr>
      </p:sp>
      <p:sp>
        <p:nvSpPr>
          <p:cNvPr id="9" name="Shape 7"/>
          <p:cNvSpPr/>
          <p:nvPr/>
        </p:nvSpPr>
        <p:spPr>
          <a:xfrm>
            <a:off x="952500" y="2220069"/>
            <a:ext cx="9525" cy="7266831"/>
          </a:xfrm>
          <a:prstGeom prst="rect">
            <a:avLst/>
          </a:prstGeom>
          <a:solidFill>
            <a:srgbClr val="EADFCB"/>
          </a:solidFill>
          <a:ln/>
        </p:spPr>
      </p:sp>
      <p:sp>
        <p:nvSpPr>
          <p:cNvPr id="10" name="Shape 8"/>
          <p:cNvSpPr/>
          <p:nvPr/>
        </p:nvSpPr>
        <p:spPr>
          <a:xfrm>
            <a:off x="6213425" y="2220069"/>
            <a:ext cx="9525" cy="7266831"/>
          </a:xfrm>
          <a:prstGeom prst="rect">
            <a:avLst/>
          </a:prstGeom>
          <a:solidFill>
            <a:srgbClr val="EADFCB"/>
          </a:solidFill>
          <a:ln/>
        </p:spPr>
      </p:sp>
      <p:sp>
        <p:nvSpPr>
          <p:cNvPr id="11" name="Text 9"/>
          <p:cNvSpPr/>
          <p:nvPr/>
        </p:nvSpPr>
        <p:spPr>
          <a:xfrm>
            <a:off x="1266825" y="2582019"/>
            <a:ext cx="510598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B76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266825" y="3124944"/>
            <a:ext cx="5105980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52"/>
              </a:lnSpc>
              <a:buNone/>
            </a:pPr>
            <a:r>
              <a:rPr lang="en-US" sz="1950" b="1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 do Relatório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66825" y="3543002"/>
            <a:ext cx="4781054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1500" dirty="0">
                <a:solidFill>
                  <a:srgbClr val="41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Confirmar com o Tribunal se o formato com assinatura digital + QR Code é aceito formalmente como comprovação em petições processuais.</a:t>
            </a:r>
            <a:endParaRPr lang="en-US" sz="15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66825" y="8963025"/>
            <a:ext cx="171450" cy="17145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533525" y="8943975"/>
            <a:ext cx="290930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6B7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Jurídico / Representante do Tribunal</a:t>
            </a:r>
            <a:endParaRPr lang="en-US" sz="1275" dirty="0"/>
          </a:p>
        </p:txBody>
      </p:sp>
      <p:sp>
        <p:nvSpPr>
          <p:cNvPr id="16" name="Shape 13"/>
          <p:cNvSpPr/>
          <p:nvPr/>
        </p:nvSpPr>
        <p:spPr>
          <a:xfrm>
            <a:off x="6508700" y="2220069"/>
            <a:ext cx="5270450" cy="7266831"/>
          </a:xfrm>
          <a:prstGeom prst="roundRect">
            <a:avLst>
              <a:gd name="adj" fmla="val 2530"/>
            </a:avLst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6508700" y="9477375"/>
            <a:ext cx="5270450" cy="9525"/>
          </a:xfrm>
          <a:prstGeom prst="rect">
            <a:avLst/>
          </a:prstGeom>
          <a:solidFill>
            <a:srgbClr val="EADFCB"/>
          </a:solidFill>
          <a:ln/>
        </p:spPr>
      </p:sp>
      <p:sp>
        <p:nvSpPr>
          <p:cNvPr id="18" name="Shape 15"/>
          <p:cNvSpPr/>
          <p:nvPr/>
        </p:nvSpPr>
        <p:spPr>
          <a:xfrm>
            <a:off x="6508700" y="2220069"/>
            <a:ext cx="5270450" cy="38100"/>
          </a:xfrm>
          <a:prstGeom prst="rect">
            <a:avLst/>
          </a:prstGeom>
          <a:solidFill>
            <a:srgbClr val="B76F27"/>
          </a:solidFill>
          <a:ln/>
        </p:spPr>
      </p:sp>
      <p:sp>
        <p:nvSpPr>
          <p:cNvPr id="19" name="Shape 16"/>
          <p:cNvSpPr/>
          <p:nvPr/>
        </p:nvSpPr>
        <p:spPr>
          <a:xfrm>
            <a:off x="6508700" y="2220069"/>
            <a:ext cx="9525" cy="7266831"/>
          </a:xfrm>
          <a:prstGeom prst="rect">
            <a:avLst/>
          </a:prstGeom>
          <a:solidFill>
            <a:srgbClr val="EADFCB"/>
          </a:solidFill>
          <a:ln/>
        </p:spPr>
      </p:sp>
      <p:sp>
        <p:nvSpPr>
          <p:cNvPr id="20" name="Shape 17"/>
          <p:cNvSpPr/>
          <p:nvPr/>
        </p:nvSpPr>
        <p:spPr>
          <a:xfrm>
            <a:off x="11769626" y="2220069"/>
            <a:ext cx="9525" cy="7266831"/>
          </a:xfrm>
          <a:prstGeom prst="rect">
            <a:avLst/>
          </a:prstGeom>
          <a:solidFill>
            <a:srgbClr val="EADFCB"/>
          </a:solidFill>
          <a:ln/>
        </p:spPr>
      </p:sp>
      <p:sp>
        <p:nvSpPr>
          <p:cNvPr id="21" name="Text 18"/>
          <p:cNvSpPr/>
          <p:nvPr/>
        </p:nvSpPr>
        <p:spPr>
          <a:xfrm>
            <a:off x="6823025" y="2582019"/>
            <a:ext cx="510598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B76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N1</a:t>
            </a:r>
            <a:endParaRPr lang="en-US" sz="2700" dirty="0"/>
          </a:p>
        </p:txBody>
      </p:sp>
      <p:sp>
        <p:nvSpPr>
          <p:cNvPr id="22" name="Text 19"/>
          <p:cNvSpPr/>
          <p:nvPr/>
        </p:nvSpPr>
        <p:spPr>
          <a:xfrm>
            <a:off x="6823025" y="3124944"/>
            <a:ext cx="5105980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52"/>
              </a:lnSpc>
              <a:buNone/>
            </a:pPr>
            <a:r>
              <a:rPr lang="en-US" sz="1950" b="1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Conformidade com a Minuta</a:t>
            </a:r>
            <a:endParaRPr lang="en-US" sz="1950" dirty="0"/>
          </a:p>
        </p:txBody>
      </p:sp>
      <p:sp>
        <p:nvSpPr>
          <p:cNvPr id="23" name="Text 20"/>
          <p:cNvSpPr/>
          <p:nvPr/>
        </p:nvSpPr>
        <p:spPr>
          <a:xfrm>
            <a:off x="6823025" y="3543002"/>
            <a:ext cx="4781054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1500" dirty="0">
                <a:solidFill>
                  <a:srgbClr val="41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formalmente com o Tribunal que o sistema, ao entrar no ar, estará em total conformidade com a minuta regulatória que originou o projeto.</a:t>
            </a:r>
            <a:endParaRPr lang="en-US" sz="15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23025" y="8963025"/>
            <a:ext cx="171450" cy="17145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089725" y="8943975"/>
            <a:ext cx="290930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6B7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Jurídico / Representante do Tribunal</a:t>
            </a:r>
            <a:endParaRPr lang="en-US" sz="1275" dirty="0"/>
          </a:p>
        </p:txBody>
      </p:sp>
      <p:sp>
        <p:nvSpPr>
          <p:cNvPr id="26" name="Shape 22"/>
          <p:cNvSpPr/>
          <p:nvPr/>
        </p:nvSpPr>
        <p:spPr>
          <a:xfrm>
            <a:off x="12064901" y="2220069"/>
            <a:ext cx="5270450" cy="7266831"/>
          </a:xfrm>
          <a:prstGeom prst="roundRect">
            <a:avLst>
              <a:gd name="adj" fmla="val 2530"/>
            </a:avLst>
          </a:prstGeom>
          <a:solidFill>
            <a:srgbClr val="FFFFFF"/>
          </a:solidFill>
          <a:ln/>
        </p:spPr>
      </p:sp>
      <p:sp>
        <p:nvSpPr>
          <p:cNvPr id="27" name="Shape 23"/>
          <p:cNvSpPr/>
          <p:nvPr/>
        </p:nvSpPr>
        <p:spPr>
          <a:xfrm>
            <a:off x="12064901" y="9477375"/>
            <a:ext cx="5270450" cy="9525"/>
          </a:xfrm>
          <a:prstGeom prst="rect">
            <a:avLst/>
          </a:prstGeom>
          <a:solidFill>
            <a:srgbClr val="D5DEE7"/>
          </a:solidFill>
          <a:ln/>
        </p:spPr>
      </p:sp>
      <p:sp>
        <p:nvSpPr>
          <p:cNvPr id="28" name="Shape 24"/>
          <p:cNvSpPr/>
          <p:nvPr/>
        </p:nvSpPr>
        <p:spPr>
          <a:xfrm>
            <a:off x="12064901" y="2220069"/>
            <a:ext cx="5270450" cy="38100"/>
          </a:xfrm>
          <a:prstGeom prst="rect">
            <a:avLst/>
          </a:prstGeom>
          <a:solidFill>
            <a:srgbClr val="1D5286"/>
          </a:solidFill>
          <a:ln/>
        </p:spPr>
      </p:sp>
      <p:sp>
        <p:nvSpPr>
          <p:cNvPr id="29" name="Shape 25"/>
          <p:cNvSpPr/>
          <p:nvPr/>
        </p:nvSpPr>
        <p:spPr>
          <a:xfrm>
            <a:off x="12064901" y="2220069"/>
            <a:ext cx="9525" cy="7266831"/>
          </a:xfrm>
          <a:prstGeom prst="rect">
            <a:avLst/>
          </a:prstGeom>
          <a:solidFill>
            <a:srgbClr val="D5DEE7"/>
          </a:solidFill>
          <a:ln/>
        </p:spPr>
      </p:sp>
      <p:sp>
        <p:nvSpPr>
          <p:cNvPr id="30" name="Shape 26"/>
          <p:cNvSpPr/>
          <p:nvPr/>
        </p:nvSpPr>
        <p:spPr>
          <a:xfrm>
            <a:off x="17325826" y="2220069"/>
            <a:ext cx="9525" cy="7266831"/>
          </a:xfrm>
          <a:prstGeom prst="rect">
            <a:avLst/>
          </a:prstGeom>
          <a:solidFill>
            <a:srgbClr val="D5DEE7"/>
          </a:solidFill>
          <a:ln/>
        </p:spPr>
      </p:sp>
      <p:sp>
        <p:nvSpPr>
          <p:cNvPr id="31" name="Text 27"/>
          <p:cNvSpPr/>
          <p:nvPr/>
        </p:nvSpPr>
        <p:spPr>
          <a:xfrm>
            <a:off x="12379226" y="2582019"/>
            <a:ext cx="510598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D52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T4</a:t>
            </a:r>
            <a:endParaRPr lang="en-US" sz="2700" dirty="0"/>
          </a:p>
        </p:txBody>
      </p:sp>
      <p:sp>
        <p:nvSpPr>
          <p:cNvPr id="32" name="Text 28"/>
          <p:cNvSpPr/>
          <p:nvPr/>
        </p:nvSpPr>
        <p:spPr>
          <a:xfrm>
            <a:off x="12379226" y="3124944"/>
            <a:ext cx="5105980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52"/>
              </a:lnSpc>
              <a:buNone/>
            </a:pPr>
            <a:r>
              <a:rPr lang="en-US" sz="1950" b="1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Compatibilidade .NET × Java</a:t>
            </a:r>
            <a:endParaRPr lang="en-US" sz="1950" dirty="0"/>
          </a:p>
        </p:txBody>
      </p:sp>
      <p:sp>
        <p:nvSpPr>
          <p:cNvPr id="33" name="Text 29"/>
          <p:cNvSpPr/>
          <p:nvPr/>
        </p:nvSpPr>
        <p:spPr>
          <a:xfrm>
            <a:off x="12379226" y="3543002"/>
            <a:ext cx="4781054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1500" dirty="0">
                <a:solidFill>
                  <a:srgbClr val="41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Spike técnico para comparar os formatos de resposta de .NET HealthChecks e Spring Boot Actuator e confirmar compatibilidade ou necessidade de adaptador.</a:t>
            </a:r>
            <a:endParaRPr lang="en-US" sz="150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79226" y="8963025"/>
            <a:ext cx="171450" cy="17145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12645926" y="8943975"/>
            <a:ext cx="286592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6B7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 de Desenvolvimento — spike</a:t>
            </a:r>
            <a:endParaRPr lang="en-US" sz="12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18021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1D52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PRÓXIMOS PASSOS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52500" y="1085850"/>
            <a:ext cx="18021300" cy="553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133"/>
              </a:lnSpc>
              <a:buNone/>
            </a:pPr>
            <a:r>
              <a:rPr lang="en-US" sz="3900" b="1" spc="-78" kern="0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estamos e o que vem a seguir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52500" y="1848594"/>
            <a:ext cx="16383000" cy="9525"/>
          </a:xfrm>
          <a:prstGeom prst="rect">
            <a:avLst/>
          </a:prstGeom>
          <a:solidFill>
            <a:srgbClr val="DDE4EC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1839069"/>
            <a:ext cx="609600" cy="28575"/>
          </a:xfrm>
          <a:prstGeom prst="rect">
            <a:avLst/>
          </a:prstGeom>
          <a:solidFill>
            <a:srgbClr val="1D5286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2201019"/>
            <a:ext cx="3924300" cy="6333381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E4E9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28725" y="2496294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6F1E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3975" y="2591544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62125" y="2624882"/>
            <a:ext cx="93359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75" kern="0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CONCLUÍDO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1228725" y="3086844"/>
            <a:ext cx="3473006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45"/>
              </a:lnSpc>
              <a:buNone/>
            </a:pPr>
            <a:r>
              <a:rPr lang="en-US" sz="1425" dirty="0">
                <a:solidFill>
                  <a:srgbClr val="41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completo · escopo aprovado · especificação funcional · protótipos de tela · modelo de relatório PDF.</a:t>
            </a:r>
            <a:endParaRPr lang="en-US" sz="1425" dirty="0"/>
          </a:p>
        </p:txBody>
      </p:sp>
      <p:sp>
        <p:nvSpPr>
          <p:cNvPr id="11" name="Shape 8"/>
          <p:cNvSpPr/>
          <p:nvPr/>
        </p:nvSpPr>
        <p:spPr>
          <a:xfrm>
            <a:off x="5105400" y="2201019"/>
            <a:ext cx="3924300" cy="6333381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E4E9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81625" y="2496294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F6EEE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6875" y="2591544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15025" y="2624882"/>
            <a:ext cx="121949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75" kern="0" dirty="0">
                <a:solidFill>
                  <a:srgbClr val="B76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 ANDAMENTO</a:t>
            </a:r>
            <a:endParaRPr lang="en-US" sz="1125" dirty="0"/>
          </a:p>
        </p:txBody>
      </p:sp>
      <p:sp>
        <p:nvSpPr>
          <p:cNvPr id="15" name="Text 11"/>
          <p:cNvSpPr/>
          <p:nvPr/>
        </p:nvSpPr>
        <p:spPr>
          <a:xfrm>
            <a:off x="5381625" y="3086844"/>
            <a:ext cx="3473006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45"/>
              </a:lnSpc>
              <a:buNone/>
            </a:pPr>
            <a:r>
              <a:rPr lang="en-US" sz="1425" dirty="0">
                <a:solidFill>
                  <a:srgbClr val="41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das hipóteses </a:t>
            </a:r>
            <a:pPr algn="l" indent="0" marL="0">
              <a:lnSpc>
                <a:spcPct val="129545"/>
              </a:lnSpc>
              <a:buNone/>
            </a:pPr>
            <a:r>
              <a:rPr lang="en-US" sz="1425" b="1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U4 e N1 </a:t>
            </a:r>
            <a:pPr algn="l" indent="0" marL="0">
              <a:lnSpc>
                <a:spcPct val="129545"/>
              </a:lnSpc>
              <a:buNone/>
            </a:pPr>
            <a:r>
              <a:rPr lang="en-US" sz="1425" dirty="0">
                <a:solidFill>
                  <a:srgbClr val="41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o Tribunal · spike técnico </a:t>
            </a:r>
            <a:pPr algn="l" indent="0" marL="0">
              <a:lnSpc>
                <a:spcPct val="129545"/>
              </a:lnSpc>
              <a:buNone/>
            </a:pPr>
            <a:r>
              <a:rPr lang="en-US" sz="1425" b="1" dirty="0">
                <a:solidFill>
                  <a:srgbClr val="0C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 </a:t>
            </a:r>
            <a:pPr algn="l" indent="0" marL="0">
              <a:lnSpc>
                <a:spcPct val="129545"/>
              </a:lnSpc>
              <a:buNone/>
            </a:pPr>
            <a:r>
              <a:rPr lang="en-US" sz="1425" dirty="0">
                <a:solidFill>
                  <a:srgbClr val="41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(.NET × Java).</a:t>
            </a:r>
            <a:endParaRPr lang="en-US" sz="1425" dirty="0"/>
          </a:p>
        </p:txBody>
      </p:sp>
      <p:sp>
        <p:nvSpPr>
          <p:cNvPr id="16" name="Shape 12"/>
          <p:cNvSpPr/>
          <p:nvPr/>
        </p:nvSpPr>
        <p:spPr>
          <a:xfrm>
            <a:off x="9258300" y="2201019"/>
            <a:ext cx="3924300" cy="6333381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E4E9E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534525" y="2496294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29775" y="2591544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067925" y="2624882"/>
            <a:ext cx="93359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75" kern="0" dirty="0">
                <a:solidFill>
                  <a:srgbClr val="1D52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INICIAR</a:t>
            </a:r>
            <a:endParaRPr lang="en-US" sz="1125" dirty="0"/>
          </a:p>
        </p:txBody>
      </p:sp>
      <p:sp>
        <p:nvSpPr>
          <p:cNvPr id="20" name="Text 15"/>
          <p:cNvSpPr/>
          <p:nvPr/>
        </p:nvSpPr>
        <p:spPr>
          <a:xfrm>
            <a:off x="9534525" y="3086844"/>
            <a:ext cx="3473006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45"/>
              </a:lnSpc>
              <a:buNone/>
            </a:pPr>
            <a:r>
              <a:rPr lang="en-US" sz="1425" dirty="0">
                <a:solidFill>
                  <a:srgbClr val="41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Modelagem de dados (Oracle 19c) · plano de execução técnico (fullstack .NET + Angular).</a:t>
            </a:r>
            <a:endParaRPr lang="en-US" sz="1425" dirty="0"/>
          </a:p>
        </p:txBody>
      </p:sp>
      <p:sp>
        <p:nvSpPr>
          <p:cNvPr id="21" name="Shape 16"/>
          <p:cNvSpPr/>
          <p:nvPr/>
        </p:nvSpPr>
        <p:spPr>
          <a:xfrm>
            <a:off x="13411200" y="2201019"/>
            <a:ext cx="3924300" cy="6333381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E4E9E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13687425" y="2496294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EF2F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782675" y="2591544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220825" y="2624882"/>
            <a:ext cx="157195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75" kern="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DESENVOLVIMENTO</a:t>
            </a:r>
            <a:endParaRPr lang="en-US" sz="1125" dirty="0"/>
          </a:p>
        </p:txBody>
      </p:sp>
      <p:sp>
        <p:nvSpPr>
          <p:cNvPr id="25" name="Text 19"/>
          <p:cNvSpPr/>
          <p:nvPr/>
        </p:nvSpPr>
        <p:spPr>
          <a:xfrm>
            <a:off x="13687425" y="3086844"/>
            <a:ext cx="3473006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45"/>
              </a:lnSpc>
              <a:buNone/>
            </a:pPr>
            <a:r>
              <a:rPr lang="en-US" sz="1425" dirty="0">
                <a:solidFill>
                  <a:srgbClr val="41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 incremental por camada · homologação · deploy em produção alinhado ao Portal.</a:t>
            </a:r>
            <a:endParaRPr lang="en-US" sz="1425" dirty="0"/>
          </a:p>
        </p:txBody>
      </p:sp>
      <p:sp>
        <p:nvSpPr>
          <p:cNvPr id="26" name="Shape 20"/>
          <p:cNvSpPr/>
          <p:nvPr/>
        </p:nvSpPr>
        <p:spPr>
          <a:xfrm>
            <a:off x="952500" y="8801100"/>
            <a:ext cx="16383000" cy="685800"/>
          </a:xfrm>
          <a:prstGeom prst="roundRect">
            <a:avLst>
              <a:gd name="adj" fmla="val 16667"/>
            </a:avLst>
          </a:prstGeom>
          <a:solidFill>
            <a:srgbClr val="0C2A4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38250" y="9029700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00200" y="9010650"/>
            <a:ext cx="734243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D3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 de entrega </a:t>
            </a:r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alinhado ao lançamento do Portal de Serviços </a:t>
            </a:r>
            <a:pPr algn="l" indent="0" marL="0">
              <a:buNone/>
            </a:pPr>
            <a:r>
              <a:rPr lang="en-US" sz="1575" dirty="0">
                <a:solidFill>
                  <a:srgbClr val="D3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TCE-MG.</a:t>
            </a:r>
            <a:endParaRPr lang="en-US" sz="15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gradFill rotWithShape="1">
            <a:gsLst>
              <a:gs pos="0">
                <a:srgbClr val="1D5286">
                  <a:alpha val="100000"/>
                </a:srgbClr>
              </a:gs>
              <a:gs pos="100000">
                <a:srgbClr val="4E86BF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14668500" y="7048500"/>
            <a:ext cx="4572000" cy="4572000"/>
          </a:xfrm>
          <a:prstGeom prst="ellipse">
            <a:avLst/>
          </a:prstGeom>
          <a:ln w="9525">
            <a:solidFill>
              <a:srgbClr val="78A0C8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7750" y="914400"/>
            <a:ext cx="533400" cy="533400"/>
          </a:xfrm>
          <a:prstGeom prst="roundRect">
            <a:avLst>
              <a:gd name="adj" fmla="val 14286"/>
            </a:avLst>
          </a:prstGeom>
          <a:ln w="9525">
            <a:solidFill>
              <a:srgbClr val="A0BEDC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9175" y="923925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FB4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752600" y="1090613"/>
            <a:ext cx="565785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9FB4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SISTEMA DE MONITORAMENTO DE INDISPONIBILIDADE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1047750" y="4339679"/>
            <a:ext cx="1781175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395"/>
              </a:lnSpc>
              <a:buNone/>
            </a:pPr>
            <a:r>
              <a:rPr lang="en-US" sz="7800" b="1" spc="-23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</a:t>
            </a:r>
            <a:endParaRPr lang="en-US" sz="7800" dirty="0"/>
          </a:p>
        </p:txBody>
      </p:sp>
      <p:sp>
        <p:nvSpPr>
          <p:cNvPr id="8" name="Text 6"/>
          <p:cNvSpPr/>
          <p:nvPr/>
        </p:nvSpPr>
        <p:spPr>
          <a:xfrm>
            <a:off x="1047750" y="5577929"/>
            <a:ext cx="178117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B9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Dúvidas e discussões.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47750" y="8822234"/>
            <a:ext cx="16678275" cy="5884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105"/>
              </a:lnSpc>
              <a:buNone/>
            </a:pPr>
            <a:r>
              <a:rPr lang="en-US" sz="1275" spc="75" kern="0" dirty="0">
                <a:solidFill>
                  <a:srgbClr val="8FA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Equipe DTI — Diretoria de Tecnologia e Informação Tribunal de Contas do Estado de Minas Gerais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2026-07-13T16:58:07Z</dcterms:created>
  <dcterms:modified xsi:type="dcterms:W3CDTF">2026-07-13T16:58:07Z</dcterms:modified>
</cp:coreProperties>
</file>