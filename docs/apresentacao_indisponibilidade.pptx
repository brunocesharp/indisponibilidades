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429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2801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E1E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11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TCE-MG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Tribunal de Contas do Estado de Minas Gerais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8412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Monitoramento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Indisponibilidade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65760" y="3886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da Especificação Funcional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Julho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429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Motivação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517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2651760" cy="73152"/>
          </a:xfrm>
          <a:prstGeom prst="rect">
            <a:avLst/>
          </a:prstGeom>
          <a:solidFill>
            <a:srgbClr val="C81E1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Problema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nenhuma forma de contabilizar ou comprovar que um sistema esteve indisponível. Indisponibilidades ocorrem sem registro, notificação ou rastreabilidade.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1143000"/>
            <a:ext cx="26517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143000"/>
            <a:ext cx="265176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325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Exigência Regulatória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78308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Minuta do Tribunal de Contas exige que informações de indisponibilidade sejam disponibilizadas aos usuários, com prazo atrelado ao lançamento do Portal de Serviços.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89320" y="1143000"/>
            <a:ext cx="26517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1143000"/>
            <a:ext cx="2651760" cy="73152"/>
          </a:xfrm>
          <a:prstGeom prst="rect">
            <a:avLst/>
          </a:prstGeom>
          <a:solidFill>
            <a:srgbClr val="057A55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325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Objetivo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178308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centralizado que monitora a saúde das aplicações, registra indisponibilidades e gera relatórios autenticados para conformidade e uso em petições processuais.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429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de Usuário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393192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258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Administrador de Sistemas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Serviço Administrativo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via AD (Active Directory)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Inclui e gerencia sistemas monitorados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Configura hierarquias entre serviços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Recebe alertas de indisponibilidade por e-mail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Consulta relatórios diários com hierarquia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023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Gera relatório parcial do dia atual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393192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143000"/>
            <a:ext cx="3931920" cy="73152"/>
          </a:xfrm>
          <a:prstGeom prst="rect">
            <a:avLst/>
          </a:prstGeom>
          <a:solidFill>
            <a:srgbClr val="057A55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3258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Usuário (Cidadão)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17830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Serviços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via conta gov.br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3774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Consulta relatórios de indisponibilidade por data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880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Utiliza relatórios como comprovação em petições processuais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383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Valida autenticidade do relatório por QR Code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429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B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do Sistema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B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features especificadas · 62 cenários BDD · 63 regras de negócio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429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— Visão Geral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965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1965960" cy="6400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25272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Serviços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cenários · 12 regras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23160" y="1143000"/>
            <a:ext cx="1965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1143000"/>
            <a:ext cx="1965960" cy="64008"/>
          </a:xfrm>
          <a:prstGeom prst="rect">
            <a:avLst/>
          </a:prstGeom>
          <a:solidFill>
            <a:srgbClr val="C81E1E"/>
          </a:solidFill>
          <a:ln/>
        </p:spPr>
      </p:sp>
      <p:sp>
        <p:nvSpPr>
          <p:cNvPr id="12" name="Text 10"/>
          <p:cNvSpPr/>
          <p:nvPr/>
        </p:nvSpPr>
        <p:spPr>
          <a:xfrm>
            <a:off x="2423160" y="125272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14600" y="17373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Healthcheck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14600" y="23774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cenários · 11 regras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0" y="1143000"/>
            <a:ext cx="1965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143000"/>
            <a:ext cx="1965960" cy="64008"/>
          </a:xfrm>
          <a:prstGeom prst="rect">
            <a:avLst/>
          </a:prstGeom>
          <a:solidFill>
            <a:srgbClr val="057A55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25272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63440" y="17373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Serviços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63440" y="23774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cenários · 8 regras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20840" y="1143000"/>
            <a:ext cx="1965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20840" y="1143000"/>
            <a:ext cx="1965960" cy="64008"/>
          </a:xfrm>
          <a:prstGeom prst="rect">
            <a:avLst/>
          </a:prstGeom>
          <a:solidFill>
            <a:srgbClr val="9F580A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125272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812280" y="17373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Limiar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12280" y="23774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cenários · 11 regras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017520"/>
            <a:ext cx="1965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017520"/>
            <a:ext cx="1965960" cy="6400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312724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65760" y="361188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Diário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Administrador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42519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cenários · 8 regras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423160" y="3017520"/>
            <a:ext cx="1965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23160" y="3017520"/>
            <a:ext cx="1965960" cy="64008"/>
          </a:xfrm>
          <a:prstGeom prst="rect">
            <a:avLst/>
          </a:prstGeom>
          <a:solidFill>
            <a:srgbClr val="057A55"/>
          </a:solidFill>
          <a:ln/>
        </p:spPr>
      </p:sp>
      <p:sp>
        <p:nvSpPr>
          <p:cNvPr id="32" name="Text 30"/>
          <p:cNvSpPr/>
          <p:nvPr/>
        </p:nvSpPr>
        <p:spPr>
          <a:xfrm>
            <a:off x="2423160" y="312724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2514600" y="361188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Relatórios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514600" y="42519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cenários · 8 regras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0" y="3017520"/>
            <a:ext cx="1965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0" y="3017520"/>
            <a:ext cx="1965960" cy="64008"/>
          </a:xfrm>
          <a:prstGeom prst="rect">
            <a:avLst/>
          </a:prstGeom>
          <a:solidFill>
            <a:srgbClr val="C81E1E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0" y="312724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4663440" y="361188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Relatório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663440" y="42519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cenários · 5 regras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429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Serviços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B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Administrador controla quais sistemas são monitorados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621792"/>
          </a:xfrm>
          <a:prstGeom prst="roundRect">
            <a:avLst/>
          </a:prstGeom>
          <a:solidFill>
            <a:srgbClr val="EBF0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Inclusão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128016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 sistema do inventário do Portal · informa URL de healthcheck · configura hierarquia (múltiplos pais)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892808"/>
            <a:ext cx="8412480" cy="621792"/>
          </a:xfrm>
          <a:prstGeom prst="roundRect">
            <a:avLst/>
          </a:prstGeom>
          <a:solidFill>
            <a:srgbClr val="DEF7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8424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Edição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1984248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 URL de healthcheck · adiciona ou remove pais · ativa ou inativa o serviço via toggle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596896"/>
            <a:ext cx="8412480" cy="621792"/>
          </a:xfrm>
          <a:prstGeom prst="roundRect">
            <a:avLst/>
          </a:prstGeom>
          <a:solidFill>
            <a:srgbClr val="FDF6B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8833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⏸ Inativação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2688336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Interrompe o monitoramento · remove vínculos hierárquicos · mantém histórico completo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300984"/>
            <a:ext cx="8412480" cy="621792"/>
          </a:xfrm>
          <a:prstGeom prst="roundRect">
            <a:avLst/>
          </a:prstGeom>
          <a:solidFill>
            <a:srgbClr val="EBF0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39242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▶️ Reativação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3392424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 monitoramento · pergunta se deseja restaurar a hierarquia anterior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4005072"/>
            <a:ext cx="8412480" cy="621792"/>
          </a:xfrm>
          <a:prstGeom prst="roundRect">
            <a:avLst/>
          </a:prstGeom>
          <a:solidFill>
            <a:srgbClr val="DEF7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09651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 Remoção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4096512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da lista de monitorados · vínculos hierárquicos eliminados permanentemente · histórico preservado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Inventário de sistemas obtido via endpoint externo do Portal de Serviços — cadastro não é responsabilidade deste sistema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81E1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de Healthcheck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B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sistema detecta e confirma indisponibilidades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Detecção (Debounce Buffer)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2606040" cy="1828800"/>
          </a:xfrm>
          <a:prstGeom prst="rect">
            <a:avLst/>
          </a:prstGeom>
          <a:solidFill>
            <a:srgbClr val="FDF6B2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600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Falha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registro no buffer em memória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 ainda não salvo no banco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17520" y="21031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00400" y="1508760"/>
            <a:ext cx="2606040" cy="1828800"/>
          </a:xfrm>
          <a:prstGeom prst="rect">
            <a:avLst/>
          </a:prstGeom>
          <a:solidFill>
            <a:srgbClr val="DEF7E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1600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Falha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01168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indisponibilidade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 início no Oracle 19c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 buffer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52160" y="21031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35040" y="1508760"/>
            <a:ext cx="2606040" cy="1828800"/>
          </a:xfrm>
          <a:prstGeom prst="rect">
            <a:avLst/>
          </a:prstGeom>
          <a:solidFill>
            <a:srgbClr val="EBF0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1600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Recuperação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201168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período no banco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Limpa o buffer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 ciclo normal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3474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Principais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840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Verificação a cada 1 min (configurável)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Padrões: Microsoft HealthChecks (.NET) e Spring Boot Actuator (Java)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Status code fora de 200–204 = indisponível (Degraded não invalida)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Erros de conexão tratados como indisponibilidade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9377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Restart do sistema zera o buffer sem recuperação de estado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57A5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de Serviços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B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sistemas relacionados são rastreados juntos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0" y="1325880"/>
            <a:ext cx="2194560" cy="594360"/>
          </a:xfrm>
          <a:prstGeom prst="roundRect">
            <a:avLst/>
          </a:prstGeom>
          <a:solidFill>
            <a:srgbClr val="EBF0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3258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E-TCE  (pai)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0" y="1920240"/>
            <a:ext cx="0" cy="36576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371600" y="2286000"/>
            <a:ext cx="63093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57200" y="2286000"/>
            <a:ext cx="2103120" cy="594360"/>
          </a:xfrm>
          <a:prstGeom prst="roundRect">
            <a:avLst/>
          </a:prstGeom>
          <a:solidFill>
            <a:srgbClr val="DEF7EC"/>
          </a:solidFill>
          <a:ln w="12700">
            <a:solidFill>
              <a:srgbClr val="057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860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CPRO  (filho)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0" y="2286000"/>
            <a:ext cx="2103120" cy="594360"/>
          </a:xfrm>
          <a:prstGeom prst="roundRect">
            <a:avLst/>
          </a:prstGeom>
          <a:solidFill>
            <a:srgbClr val="DEF7EC"/>
          </a:solidFill>
          <a:ln w="12700">
            <a:solidFill>
              <a:srgbClr val="057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2860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PSRV  (filho)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92240" y="2286000"/>
            <a:ext cx="2103120" cy="594360"/>
          </a:xfrm>
          <a:prstGeom prst="roundRect">
            <a:avLst/>
          </a:prstGeom>
          <a:solidFill>
            <a:srgbClr val="DEF7EC"/>
          </a:solidFill>
          <a:ln w="12700">
            <a:solidFill>
              <a:srgbClr val="057A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2860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SGSP  (filho)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35661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Monitoramento Independente: 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8130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serviço segue o fluxo do buffer de forma independente — a hierarquia não interfere na detecção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17720" y="35661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Relatório do Usuário: 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17720" y="38130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Exibe apenas o sistema acessado pelo cidadão, sem informações hierárquicas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42519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Relatório do Administrador: 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4988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Exibe todos os serviços com indisponibilidade no dia, indicando a relação hierárquica entre eles — mesmo que tenham ficado indisponíveis em horários distintos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17720" y="42519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Sem limite de níveis: 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17720" y="44988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hierarquia pode ter quantos níveis forem necessários; um serviço pode ter múltiplos pais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9F580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de Indisponibilidade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B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tipos de relatório, um formato único e autenticável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06908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4069080" cy="73152"/>
          </a:xfrm>
          <a:prstGeom prst="rect">
            <a:avLst/>
          </a:prstGeom>
          <a:solidFill>
            <a:srgbClr val="9F580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98448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Relatório por Limiar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Gerado à meia-noite (configurável)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16712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Sistemas com ≥ 120 min acumulados no dia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51176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Soma total do dia (períodos não contínuos)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935224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Disponível via Portal de Serviços (d-1)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31927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Assinado digitalmente pelo Diretor DTI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70332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QR Code com código verificador + código do usuário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408736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Download em PDF disponível na consulta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143000"/>
            <a:ext cx="406908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143000"/>
            <a:ext cx="406908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298448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Relatório Diário do Admin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Gerado à meia-noite (configurável)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216712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Todos os sistemas com indisponibilidade no dia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2551176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Sem filtro de limiar — inclui qualquer tempo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935224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Exibe relação hierárquica entre sistemas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331927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Assinado digitalmente pelo Diretor DTI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70332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Sem QR Code — uso interno do Administrador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408736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Relatório parcial gerado sob demanda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429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e Autenticação de Relatórios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B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cidadãos e administradores acessam e validam os relatórios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56032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256032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25272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8013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por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22402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Disponível a partir do d-1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" y="28803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Qualquer data histórica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" y="35204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Campo de data + botão Consultar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" y="41605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Resultado exibe todos os sistemas com indisponibilidade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4680" y="1143000"/>
            <a:ext cx="256032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1143000"/>
            <a:ext cx="2560320" cy="73152"/>
          </a:xfrm>
          <a:prstGeom prst="rect">
            <a:avLst/>
          </a:prstGeom>
          <a:solidFill>
            <a:srgbClr val="057A55"/>
          </a:solidFill>
          <a:ln/>
        </p:spPr>
      </p:sp>
      <p:sp>
        <p:nvSpPr>
          <p:cNvPr id="16" name="Text 14"/>
          <p:cNvSpPr/>
          <p:nvPr/>
        </p:nvSpPr>
        <p:spPr>
          <a:xfrm>
            <a:off x="3154680" y="125272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⬇️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291840" y="18013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PDF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19272" y="22402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Botão 'Baixar PDF' para relatórios d-1 concluídos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9272" y="28803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Botão 'Baixar Parcial' (laranja) para o dia atual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9272" y="35204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Formato idêntico ao relatório oficial do TCE-MG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89320" y="1143000"/>
            <a:ext cx="256032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89320" y="1143000"/>
            <a:ext cx="2560320" cy="73152"/>
          </a:xfrm>
          <a:prstGeom prst="rect">
            <a:avLst/>
          </a:prstGeom>
          <a:solidFill>
            <a:srgbClr val="C81E1E"/>
          </a:solidFill>
          <a:ln/>
        </p:spPr>
      </p:sp>
      <p:sp>
        <p:nvSpPr>
          <p:cNvPr id="23" name="Text 21"/>
          <p:cNvSpPr/>
          <p:nvPr/>
        </p:nvSpPr>
        <p:spPr>
          <a:xfrm>
            <a:off x="5989320" y="125272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126480" y="18013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53912" y="22402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Botão na página de relatórios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53912" y="28803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Informa código verificador (único por relatório) e código do usuário (único por usuário)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53912" y="35204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Sistema localiza e exibe o relatório original para validação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429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B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 e Restrições Técnicas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B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Dependências externas confirmadas · Padrões aprovados pela Arquitetura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429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 e Padrões Técnicos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97480" cy="1783080"/>
          </a:xfrm>
          <a:prstGeom prst="rect">
            <a:avLst/>
          </a:prstGeom>
          <a:solidFill>
            <a:srgbClr val="EBF0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801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Portal de Serviços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1709928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 lista de sistemas via endpoint externo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exibição dos relatórios ao cidadão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697480" cy="1783080"/>
          </a:xfrm>
          <a:prstGeom prst="rect">
            <a:avLst/>
          </a:prstGeom>
          <a:solidFill>
            <a:srgbClr val="DEF7E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2801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SSO (Single Sign-On)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37560" y="1709928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e autorização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listaGruposSistema = PRT_SRV_ADMINISTRADORES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o Administrador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80760" y="1143000"/>
            <a:ext cx="2697480" cy="1783080"/>
          </a:xfrm>
          <a:prstGeom prst="rect">
            <a:avLst/>
          </a:prstGeom>
          <a:solidFill>
            <a:srgbClr val="EBF0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2801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SIGESP / AD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17920" y="1709928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internos (Administradores)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autenticados via Active Directory do Tribunal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108960"/>
            <a:ext cx="2697480" cy="1783080"/>
          </a:xfrm>
          <a:prstGeom prst="rect">
            <a:avLst/>
          </a:prstGeom>
          <a:solidFill>
            <a:srgbClr val="DEF7E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2461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E-mail Tribunal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3675888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indisponibilidade enviados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 Administradores via relay interno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3108960"/>
            <a:ext cx="2697480" cy="1783080"/>
          </a:xfrm>
          <a:prstGeom prst="rect">
            <a:avLst/>
          </a:prstGeom>
          <a:solidFill>
            <a:srgbClr val="FDF6B2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37560" y="32461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.NET HealthChecks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37560" y="3675888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Microsoft.Extensions.Diagnostics.HealthChecks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 pela Equipe de Arquitetura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0760" y="3108960"/>
            <a:ext cx="2697480" cy="1783080"/>
          </a:xfrm>
          <a:prstGeom prst="rect">
            <a:avLst/>
          </a:prstGeom>
          <a:solidFill>
            <a:srgbClr val="FDF6B2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32461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Spring Boot Actuator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17920" y="3675888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/actuator/health para apps Java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 pela Equipe de Arquitetura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81E1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Hipóteses Pendentes de Validação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B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pontos críticos que precisam ser confirmados antes do início do desenvolvimento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1097280"/>
          </a:xfrm>
          <a:prstGeom prst="roundRect">
            <a:avLst/>
          </a:prstGeom>
          <a:solidFill>
            <a:srgbClr val="FDE8E8"/>
          </a:solidFill>
          <a:ln w="9525">
            <a:solidFill>
              <a:srgbClr val="F8B4B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80160"/>
            <a:ext cx="1463040" cy="292608"/>
          </a:xfrm>
          <a:prstGeom prst="roundRect">
            <a:avLst/>
          </a:prstGeom>
          <a:solidFill>
            <a:srgbClr val="C81E1E"/>
          </a:solidFill>
          <a:ln w="12700">
            <a:solidFill>
              <a:srgbClr val="C81E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801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1261872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do Relatório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03120" y="1627632"/>
            <a:ext cx="6492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com o Tribunal se o formato com assinatura digital + QR Code é aceito formalmente como meio de comprovação para petições processuais.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103120" y="1993392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Jurídico / Representante do Tribunal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423160"/>
            <a:ext cx="8412480" cy="1097280"/>
          </a:xfrm>
          <a:prstGeom prst="roundRect">
            <a:avLst/>
          </a:prstGeom>
          <a:solidFill>
            <a:srgbClr val="FDE8E8"/>
          </a:solidFill>
          <a:ln w="9525">
            <a:solidFill>
              <a:srgbClr val="F8B4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514600"/>
            <a:ext cx="1463040" cy="292608"/>
          </a:xfrm>
          <a:prstGeom prst="roundRect">
            <a:avLst/>
          </a:prstGeom>
          <a:solidFill>
            <a:srgbClr val="C81E1E"/>
          </a:solidFill>
          <a:ln w="12700">
            <a:solidFill>
              <a:srgbClr val="C81E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146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2496312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com a Minuta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03120" y="2862072"/>
            <a:ext cx="6492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formalmente com o Tribunal que o sistema, ao entrar no ar, estará em total conformidade com a minuta regulatória que originou o projeto.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03120" y="3227832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Jurídico / Representante do Tribunal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8412480" cy="1097280"/>
          </a:xfrm>
          <a:prstGeom prst="roundRect">
            <a:avLst/>
          </a:prstGeom>
          <a:solidFill>
            <a:srgbClr val="FDE8E8"/>
          </a:solidFill>
          <a:ln w="9525">
            <a:solidFill>
              <a:srgbClr val="F8B4B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749040"/>
            <a:ext cx="1463040" cy="292608"/>
          </a:xfrm>
          <a:prstGeom prst="roundRect">
            <a:avLst/>
          </a:prstGeom>
          <a:solidFill>
            <a:srgbClr val="C81E1E"/>
          </a:solidFill>
          <a:ln w="12700">
            <a:solidFill>
              <a:srgbClr val="C81E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7490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03120" y="3730752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Compatibilidade .NET × Java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03120" y="4096512"/>
            <a:ext cx="6492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técnico para comparar os formatos de resposta de Microsoft.Extensions.Diagnostics.HealthChecks e Spring Boot Actuator e confirmar compatibilidade ou necessidade de adaptador.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103120" y="4462272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Equipe de Desenvolvimento — Spike técnico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429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822960"/>
          </a:xfrm>
          <a:prstGeom prst="roundRect">
            <a:avLst/>
          </a:prstGeom>
          <a:solidFill>
            <a:srgbClr val="DEF7EC"/>
          </a:solidFill>
          <a:ln w="12700">
            <a:solidFill>
              <a:srgbClr val="DEF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17043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97280" y="15087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completo · Escopo aprovado · Especificação funcional · Protótipos de tela · Modelo de relatório PDF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8412480" cy="822960"/>
          </a:xfrm>
          <a:prstGeom prst="roundRect">
            <a:avLst/>
          </a:prstGeom>
          <a:solidFill>
            <a:srgbClr val="FDF6B2"/>
          </a:solidFill>
          <a:ln w="12700">
            <a:solidFill>
              <a:srgbClr val="FDF6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5740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21305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97280" y="246888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das hipóteses U4 e N1 com o Tribunal · Spike técnico T4 (.NET × Java)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8412480" cy="822960"/>
          </a:xfrm>
          <a:prstGeom prst="roundRect">
            <a:avLst/>
          </a:prstGeom>
          <a:solidFill>
            <a:srgbClr val="EBF0FF"/>
          </a:solidFill>
          <a:ln w="12700">
            <a:solidFill>
              <a:srgbClr val="EBF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175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30906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iniciar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97280" y="342900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de dados (Oracle 19c) · Plano de execução técnico (fullstack .NET + Angular)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977640"/>
            <a:ext cx="8412480" cy="82296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9776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7280" y="405079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97280" y="438912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incremental por camada · Homologação · Deploy em produção alinhado ao Portal de Serviços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B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de entrega alinhado ao lançamento do Portal de Serviços — TCE-MG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429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E1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474720"/>
            <a:ext cx="9144000" cy="164592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321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B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Monitoramento de Indisponibilidade · TCE-MG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e discussões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DTI — Diretoria de Tecnologia e Informação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2519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Tribunal de Contas do Estado de Minas Gerais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2026-07-13T16:41:01Z</dcterms:created>
  <dcterms:modified xsi:type="dcterms:W3CDTF">2026-07-13T16:41:01Z</dcterms:modified>
</cp:coreProperties>
</file>